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114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A5E9"/>
                </a:solidFill>
              </a:rPr>
              <a:t>Intuitive Surgical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腹腔镜专利趋势分析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Laparoscopic Patent Trend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46120"/>
            <a:ext cx="32004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数据来源  Justia · PatentGuru · GreyB Insights · PatenTrack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检索时间  2026年4月3日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103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Intuitive Surgical Inc.  (NASDAQ: ISRG)  |  Da Vinci Surgical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公司概览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727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Intuitive Surgical 与 Da Vinci 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09728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20700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专利总量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5727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全球专利规模与有效状态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12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年度趋势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5786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2011–2022 专利申请与授权量变化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10312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10312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2128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技术分类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25786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五大核心技术的专利布局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218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技术演进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5844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达芬奇系统四代产品的技术迭代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10896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310896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8" y="32186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地域分布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5844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美国、欧洲、日本、中国专利布局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11480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2245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战略动向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590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AI·远程手术·Da Vinci 5 最新布局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114800"/>
            <a:ext cx="402336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37760" y="4114800"/>
            <a:ext cx="73152" cy="8412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38928" y="42245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206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总结与展望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45902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89"/>
                </a:solidFill>
              </a:rPr>
              <a:t>关键发现与未来趋势研判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公司概览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EA5E9"/>
                </a:solidFill>
              </a:rPr>
              <a:t>Intuitive Surgical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直觉外科公司  |  NASDAQ: ISRG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</a:rPr>
              <a:t>▸ 1995年成立于美国加州，机器人辅助微创手术先驱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</a:rPr>
              <a:t>▸ 旗舰产品 Da Vinci 手术机器人，已更迭至第五代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</a:rPr>
              <a:t>▸ 2024年营收 83.5 亿美元，全球 Da Vinci 装机量 9,000+ 台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</a:rPr>
              <a:t>▸ 2024年手术量突破 230 万台，覆盖泌尿/妇科/普外/胸外等科室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FFFFFF"/>
                </a:solidFill>
              </a:rPr>
              <a:t>▸ 2024年推出 Da Vinci 5（第五代多孔手术平台）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51560"/>
            <a:ext cx="1600200" cy="1417320"/>
          </a:xfrm>
          <a:prstGeom prst="rect">
            <a:avLst/>
          </a:prstGeom>
          <a:solidFill>
            <a:srgbClr val="13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1051560"/>
            <a:ext cx="16002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280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A5E9"/>
                </a:solidFill>
              </a:rPr>
              <a:t>7,015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659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全球专利总数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051560"/>
            <a:ext cx="1600200" cy="1417320"/>
          </a:xfrm>
          <a:prstGeom prst="rect">
            <a:avLst/>
          </a:prstGeom>
          <a:solidFill>
            <a:srgbClr val="13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1051560"/>
            <a:ext cx="16002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280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659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有效专利比例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651760"/>
            <a:ext cx="1600200" cy="1417320"/>
          </a:xfrm>
          <a:prstGeom prst="rect">
            <a:avLst/>
          </a:prstGeom>
          <a:solidFill>
            <a:srgbClr val="13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2651760"/>
            <a:ext cx="1600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1,484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66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专利家族数量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651760"/>
            <a:ext cx="1600200" cy="1417320"/>
          </a:xfrm>
          <a:prstGeom prst="rect">
            <a:avLst/>
          </a:prstGeom>
          <a:solidFill>
            <a:srgbClr val="13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2651760"/>
            <a:ext cx="1600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8803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566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市场份额（机器人手术）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</a:rPr>
              <a:t>Da Vinci 系统迭代历程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0432" y="45720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73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A5E9"/>
                </a:solidFill>
              </a:rPr>
              <a:t>1999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017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 Vinci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937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基本机械臂·腕式器械·主从控制</a:t>
            </a:r>
          </a:p>
        </p:txBody>
      </p:sp>
      <p:sp>
        <p:nvSpPr>
          <p:cNvPr id="31" name="Oval 30"/>
          <p:cNvSpPr/>
          <p:nvPr/>
        </p:nvSpPr>
        <p:spPr>
          <a:xfrm>
            <a:off x="2862072" y="45720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773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A5E9"/>
                </a:solidFill>
              </a:rPr>
              <a:t>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0017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 Vinci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1937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多图像显示·超声能量集成</a:t>
            </a:r>
          </a:p>
        </p:txBody>
      </p:sp>
      <p:sp>
        <p:nvSpPr>
          <p:cNvPr id="35" name="Oval 34"/>
          <p:cNvSpPr/>
          <p:nvPr/>
        </p:nvSpPr>
        <p:spPr>
          <a:xfrm>
            <a:off x="4553712" y="45720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773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A5E9"/>
                </a:solidFill>
              </a:rPr>
              <a:t>2009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017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 Vinci 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1937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双控制台·荧光成像·单孔支持</a:t>
            </a:r>
          </a:p>
        </p:txBody>
      </p:sp>
      <p:sp>
        <p:nvSpPr>
          <p:cNvPr id="39" name="Oval 38"/>
          <p:cNvSpPr/>
          <p:nvPr/>
        </p:nvSpPr>
        <p:spPr>
          <a:xfrm>
            <a:off x="6245352" y="45720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4773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A5E9"/>
                </a:solidFill>
              </a:rPr>
              <a:t>2014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50017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 Vinci Xi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51937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全向臂·多端口·智能推车</a:t>
            </a:r>
          </a:p>
        </p:txBody>
      </p:sp>
      <p:sp>
        <p:nvSpPr>
          <p:cNvPr id="43" name="Oval 42"/>
          <p:cNvSpPr/>
          <p:nvPr/>
        </p:nvSpPr>
        <p:spPr>
          <a:xfrm>
            <a:off x="7936992" y="45720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773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A5E9"/>
                </a:solidFill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001768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 Vinci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19379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AI辅助·增强传感·超低延迟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专利总量概览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8404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38404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EA5E9"/>
                </a:solidFill>
              </a:rPr>
              <a:t>7,015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689"/>
                </a:solidFill>
              </a:rPr>
              <a:t>全球专利总量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数据来源：GreyB Insights（截至2025年）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005840"/>
            <a:ext cx="13716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005840"/>
            <a:ext cx="13716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4B8A6"/>
                </a:solidFill>
              </a:rPr>
              <a:t>4,016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已授权专利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689"/>
                </a:solidFill>
              </a:rPr>
              <a:t>57.2% 占比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005840"/>
            <a:ext cx="13716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00584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1,484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独立专利家族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689"/>
                </a:solidFill>
              </a:rPr>
              <a:t>覆盖多技术领域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005840"/>
            <a:ext cx="13716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5,474+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93B"/>
                </a:solidFill>
              </a:rPr>
              <a:t>有效状态专利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689"/>
                </a:solidFill>
              </a:rPr>
              <a:t>78%+ 有效率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272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专利法律状态分布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已授权（Granted）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566160"/>
            <a:ext cx="32004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3566160"/>
            <a:ext cx="1830628" cy="2011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520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</a:rPr>
              <a:t>57.2%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95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申请中（Pending）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041648"/>
            <a:ext cx="320040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4041648"/>
            <a:ext cx="700887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9959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21.9%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1272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地域分布 TOP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美国 USPTO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813048"/>
            <a:ext cx="210312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3813048"/>
            <a:ext cx="105156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39593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50%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995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欧洲 EPO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288536"/>
            <a:ext cx="210312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0" y="4288536"/>
            <a:ext cx="378561" cy="137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44348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18%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4714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日本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764024"/>
            <a:ext cx="2103120" cy="137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0" y="4764024"/>
            <a:ext cx="27340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13%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149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注：Justia 数据显示 Intuitive Surgical 共拥有 2,541 项已授权专利、1,328 项专利申请（含全球同族专利）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年度专利申请趋势  2011–2022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20040" cy="1645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92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专利申请量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960120"/>
            <a:ext cx="320040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9692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专利授权量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785262"/>
            <a:ext cx="287655" cy="110093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2584094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301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155" y="3578961"/>
            <a:ext cx="287655" cy="30723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155" y="3377793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8250" y="2671876"/>
            <a:ext cx="287655" cy="1214323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8250" y="2470708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332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5905" y="3443630"/>
            <a:ext cx="287655" cy="44256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5905" y="3242462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5000" y="2163470"/>
            <a:ext cx="287655" cy="172272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1962302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471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2655" y="3227832"/>
            <a:ext cx="287655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2655" y="3026664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71750" y="2079345"/>
            <a:ext cx="287655" cy="180685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1750" y="1878177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494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9405" y="3205886"/>
            <a:ext cx="287655" cy="68031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9405" y="3004718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186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17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8500" y="1004011"/>
            <a:ext cx="287655" cy="28821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8500" y="802843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788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6155" y="3037636"/>
            <a:ext cx="287655" cy="84856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6155" y="2836468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232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85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05250" y="2507284"/>
            <a:ext cx="287655" cy="137891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05250" y="2306116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377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2905" y="2887675"/>
            <a:ext cx="287655" cy="99852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2905" y="2686507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273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52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1369771"/>
            <a:ext cx="287655" cy="25164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1168603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688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59655" y="2562148"/>
            <a:ext cx="287655" cy="1324051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9655" y="2360980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362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8750" y="1991563"/>
            <a:ext cx="287655" cy="189463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38750" y="1790395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518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26405" y="2291486"/>
            <a:ext cx="287655" cy="159471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6405" y="2090318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436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87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05500" y="1581912"/>
            <a:ext cx="287655" cy="2304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05500" y="1380744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630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3155" y="1951329"/>
            <a:ext cx="287655" cy="193487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3155" y="1750161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529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55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72250" y="2576779"/>
            <a:ext cx="287655" cy="13094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72250" y="2375611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358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9905" y="1552651"/>
            <a:ext cx="287655" cy="23335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9905" y="1351483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638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22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39000" y="2946196"/>
            <a:ext cx="287655" cy="940003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39000" y="2745028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257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26655" y="1826971"/>
            <a:ext cx="287655" cy="20592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26655" y="1625803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563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900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2021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5750" y="3871569"/>
            <a:ext cx="287655" cy="1463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05750" y="3670401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93405" y="3436315"/>
            <a:ext cx="287655" cy="4498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93405" y="3235147"/>
            <a:ext cx="2876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4B8A6"/>
                </a:solidFill>
              </a:rPr>
              <a:t>123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5750" y="3886200"/>
            <a:ext cx="5753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689"/>
                </a:solidFill>
              </a:rPr>
              <a:t>2022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" y="201168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689"/>
                </a:solidFill>
              </a:rPr>
              <a:t>专利数量（件）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02336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402336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41148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📈 2015年峰值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4074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申请量788件，与第三代Si系统商业化密切相关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06040" y="402336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06040" y="402336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0" y="41148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🔄 2016年回落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0" y="44074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申请量骤降至377件，核心专利到期后调整期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54880" y="402336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54880" y="402336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892040" y="41148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📊 授权持续增长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92040" y="44074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2020年授权638件超越申请量，反映审查效率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02336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03720" y="402336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0" y="411480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⏳ 2021后延迟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40880" y="440740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2021年后数据受18个月公开延迟影响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技术分类分析  —  五大核心领域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124712"/>
            <a:ext cx="658368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1430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124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手术器械与腕部机构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527048"/>
            <a:ext cx="241401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EndoWrist 多自由度器械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光纤力反馈传感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203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超声能量集成 (US6783524B2)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5054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电切/凝固双模器械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96012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960120"/>
            <a:ext cx="27432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1124712"/>
            <a:ext cx="658368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1430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1124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3D 成像与视觉系统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93592" y="1527048"/>
            <a:ext cx="241401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3D 高清立体视觉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荧光/近红外成像 (Firefly)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2203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实时图像融合导航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25054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数字化手术室集成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96012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9601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1124712"/>
            <a:ext cx="658368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1430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11247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系统控制与人机交互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65392" y="1527048"/>
            <a:ext cx="241401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主从映射优化控制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19019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多臂协同避碰算法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203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无菌适配器与罩体设计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25054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状态指示与安全制动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17520"/>
            <a:ext cx="402336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017520"/>
            <a:ext cx="40233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03320" y="3182112"/>
            <a:ext cx="658368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3320" y="32004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182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AI · 数据与智能化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" y="3584448"/>
            <a:ext cx="369417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65760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手术阶段自动识别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39593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术中实时反馈与预测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42611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Case Insights 分析引擎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4562856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Da Vinci 5 力传感增强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3017520"/>
            <a:ext cx="402336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1000" y="3182112"/>
            <a:ext cx="658368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32004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9472" y="3182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远程手术与通信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19472" y="3584448"/>
            <a:ext cx="369417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365760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远程观察指导系统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9472" y="3959352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低延迟远程操控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9472" y="426110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手术培训力反馈网络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9472" y="4562856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689"/>
                </a:solidFill>
              </a:rPr>
              <a:t>▸  多控制台协同手术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9149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技术占比为基于专利文献的估算分布，US6783524B2 为被引用次数最多的核心专利（3,743次引用）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技术演进  —  Da Vinci 四代产品迭代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33472"/>
            <a:ext cx="6858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201168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1999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Da Vinci 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719072"/>
            <a:ext cx="731520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基础架构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299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US5797900A · US6905491B1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07208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43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基本机械臂结构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246120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82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腕式手术器械 (US5797900A)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210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主从控制架构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12394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059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丝杆驱动推进机构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96012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40" y="96012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A5E9"/>
                </a:solidFill>
              </a:rPr>
              <a:t>2006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Da Vinci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719072"/>
            <a:ext cx="731520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7373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功能扩展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20299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US6783524B2 · US8100133B2</a:t>
            </a:r>
          </a:p>
        </p:txBody>
      </p:sp>
      <p:sp>
        <p:nvSpPr>
          <p:cNvPr id="29" name="Oval 28"/>
          <p:cNvSpPr/>
          <p:nvPr/>
        </p:nvSpPr>
        <p:spPr>
          <a:xfrm>
            <a:off x="2697480" y="2807208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98648" y="2743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多图像同时显示</a:t>
            </a:r>
          </a:p>
        </p:txBody>
      </p:sp>
      <p:sp>
        <p:nvSpPr>
          <p:cNvPr id="31" name="Oval 30"/>
          <p:cNvSpPr/>
          <p:nvPr/>
        </p:nvSpPr>
        <p:spPr>
          <a:xfrm>
            <a:off x="2697480" y="324612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3182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超声切割止血器械</a:t>
            </a:r>
          </a:p>
        </p:txBody>
      </p:sp>
      <p:sp>
        <p:nvSpPr>
          <p:cNvPr id="33" name="Oval 32"/>
          <p:cNvSpPr/>
          <p:nvPr/>
        </p:nvSpPr>
        <p:spPr>
          <a:xfrm>
            <a:off x="2697480" y="368503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8648" y="36210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器械状态指示系统</a:t>
            </a:r>
          </a:p>
        </p:txBody>
      </p:sp>
      <p:sp>
        <p:nvSpPr>
          <p:cNvPr id="35" name="Oval 34"/>
          <p:cNvSpPr/>
          <p:nvPr/>
        </p:nvSpPr>
        <p:spPr>
          <a:xfrm>
            <a:off x="2697480" y="412394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98648" y="4059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能量平台集成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96012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96012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</a:rPr>
              <a:t>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Da Vinci 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1719072"/>
            <a:ext cx="731520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17373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成像升级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20299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US8545515B2 · CN104799890B</a:t>
            </a:r>
          </a:p>
        </p:txBody>
      </p:sp>
      <p:sp>
        <p:nvSpPr>
          <p:cNvPr id="44" name="Oval 43"/>
          <p:cNvSpPr/>
          <p:nvPr/>
        </p:nvSpPr>
        <p:spPr>
          <a:xfrm>
            <a:off x="4846320" y="2807208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7488" y="2743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双外科医生控制台</a:t>
            </a:r>
          </a:p>
        </p:txBody>
      </p:sp>
      <p:sp>
        <p:nvSpPr>
          <p:cNvPr id="46" name="Oval 45"/>
          <p:cNvSpPr/>
          <p:nvPr/>
        </p:nvSpPr>
        <p:spPr>
          <a:xfrm>
            <a:off x="4846320" y="324612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47488" y="3182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术中荧光成像 (Firefly)</a:t>
            </a:r>
          </a:p>
        </p:txBody>
      </p:sp>
      <p:sp>
        <p:nvSpPr>
          <p:cNvPr id="48" name="Oval 47"/>
          <p:cNvSpPr/>
          <p:nvPr/>
        </p:nvSpPr>
        <p:spPr>
          <a:xfrm>
            <a:off x="4846320" y="3685032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36210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单孔手术支持架构</a:t>
            </a:r>
          </a:p>
        </p:txBody>
      </p:sp>
      <p:sp>
        <p:nvSpPr>
          <p:cNvPr id="50" name="Oval 49"/>
          <p:cNvSpPr/>
          <p:nvPr/>
        </p:nvSpPr>
        <p:spPr>
          <a:xfrm>
            <a:off x="4846320" y="4123944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7488" y="4059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3D 高清摄像系统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960120"/>
            <a:ext cx="20116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03720" y="96012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2014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Da Vinci Xi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800" y="1719072"/>
            <a:ext cx="7315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800" y="17373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智能协同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20299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US9358074B2 · CN105050531B</a:t>
            </a:r>
          </a:p>
        </p:txBody>
      </p:sp>
      <p:sp>
        <p:nvSpPr>
          <p:cNvPr id="59" name="Oval 58"/>
          <p:cNvSpPr/>
          <p:nvPr/>
        </p:nvSpPr>
        <p:spPr>
          <a:xfrm>
            <a:off x="6995160" y="280720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96328" y="2743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全向旋转机械臂定位</a:t>
            </a:r>
          </a:p>
        </p:txBody>
      </p:sp>
      <p:sp>
        <p:nvSpPr>
          <p:cNvPr id="61" name="Oval 60"/>
          <p:cNvSpPr/>
          <p:nvPr/>
        </p:nvSpPr>
        <p:spPr>
          <a:xfrm>
            <a:off x="6995160" y="32461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96328" y="31821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多端口协同手术系统</a:t>
            </a:r>
          </a:p>
        </p:txBody>
      </p:sp>
      <p:sp>
        <p:nvSpPr>
          <p:cNvPr id="63" name="Oval 62"/>
          <p:cNvSpPr/>
          <p:nvPr/>
        </p:nvSpPr>
        <p:spPr>
          <a:xfrm>
            <a:off x="6995160" y="368503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96328" y="36210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智能推车与自动对接</a:t>
            </a:r>
          </a:p>
        </p:txBody>
      </p:sp>
      <p:sp>
        <p:nvSpPr>
          <p:cNvPr id="65" name="Oval 64"/>
          <p:cNvSpPr/>
          <p:nvPr/>
        </p:nvSpPr>
        <p:spPr>
          <a:xfrm>
            <a:off x="6995160" y="412394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96328" y="4059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增强视觉与精确切割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7200" y="4526280"/>
            <a:ext cx="73152" cy="502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Da Vinci 5（2024）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4572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→  AI Case Insights 实时术中分析  |  力传感精度提升 3 倍  |  超低延迟触觉反馈  |  支持 15+ 专业科室手术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 地域分布与重点专利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地域专利数量分布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美国 USPTO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17320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37360" y="1417320"/>
            <a:ext cx="3200400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2624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欧洲 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892808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1892808"/>
            <a:ext cx="1065986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4786" y="1847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874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225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日本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368296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2368296"/>
            <a:ext cx="964754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3554" y="23225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791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980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中国 CNIPA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843784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7360" y="2843784"/>
            <a:ext cx="515918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44718" y="27980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423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35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韩国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319272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3319272"/>
            <a:ext cx="380535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9335" y="32735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490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其他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794760"/>
            <a:ext cx="320040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37360" y="3794760"/>
            <a:ext cx="1208687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7487" y="3749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991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960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高被引核心专利 TOP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1389888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1389888"/>
            <a:ext cx="54864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14630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#1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144475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US6783524B2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3872" y="16642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EA5E9"/>
                </a:solidFill>
              </a:rPr>
              <a:t>3,743次引用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14630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超声能量机器人手术器械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2011680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03520" y="2011680"/>
            <a:ext cx="54864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20848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</a:rPr>
              <a:t>#2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20665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US6364888B1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3872" y="228600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4B8A6"/>
                </a:solidFill>
              </a:rPr>
              <a:t>2,501次引用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08483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3D 立体视觉系统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633472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0" y="2633472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0680" y="27066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#3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3872" y="26883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US7524320B2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3872" y="29077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9E0B"/>
                </a:solidFill>
              </a:rPr>
              <a:t>2,302次引用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270662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系统可压缩性与模块化设计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255264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03520" y="3255264"/>
            <a:ext cx="54864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33284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#4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3872" y="33101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US7691098B2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33872" y="352958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366F1"/>
                </a:solidFill>
              </a:rPr>
              <a:t>2,164次引用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332841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器械运动关节控制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877056"/>
            <a:ext cx="35661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03520" y="3877056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0680" y="39502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#5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3872" y="39319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US7806891B2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33872" y="415137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0B981"/>
                </a:solidFill>
              </a:rPr>
              <a:t>2,157次引用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395020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689"/>
                </a:solidFill>
              </a:rPr>
              <a:t>末端执行器自适应控制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9149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地域布局策略：美国（核心首发地）→ 欧洲 EPO（统一保护）→ 日本（高价值市场）→ 中国（快速增长）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 近年战略动向  —  2024–2025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6517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1247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61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143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Da Vinci 5 推出（2024）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709928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第五代多孔平台正式商业化，提前采用势头强劲，手术量同比增长显著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96012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960120"/>
            <a:ext cx="265176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29000" y="112471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61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143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AI 专利加速（2024 Q2 新增 11 项）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709928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78308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手术阶段自动识别、Case Insights 术中实时分析、预测性手术规划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96012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9601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11247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1612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1143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力反馈精度大幅提升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09928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8308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通过新型传感专利，实现 3 倍精度提升，支撑 AI 力控闭环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53512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53512"/>
            <a:ext cx="265176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311810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3136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远程手术与网络化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703320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7647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5G 低延迟远程观察与指导系统专利布局，为远程手术商业化奠基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2953512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2953512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29000" y="31181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0208" y="3136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单孔手术（Da Vinci SP）深化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3703320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77647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专为单一切口多器械手术设计，拓展泌尿/口腔等自然腔道适应症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2953512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2953512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63640" y="3118104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4848" y="3136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专利常青化策略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703320"/>
            <a:ext cx="23774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776472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689"/>
                </a:solidFill>
              </a:rPr>
              <a:t>早期核心专利陆续到期，通过改进型与新应用专利维持技术护城河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149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数据来源：PatenTrack 2024年Q2季度报告 | Intuitive Surgical 年报 10-K 2024/2025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核心发现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09344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E2D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专利规模庞大（7,015件），78% 有效，全球机器人手术市场约 80% 份额靠专利护城河支撑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084832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848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E2D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48256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2015 年申请量达峰值（788件），此后进入"常青化"调整期，以质量换数量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56032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E2D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23744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技术布局从"机械硬件"向"AI智能化"迁移，2024年Q2新增11项AI专利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035808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358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E2D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999232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 Vinci 5（2024）整合力传感、AI分析、远程化三大方向，代表最新专利战略方向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511296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112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E2D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美国授权率高达 90.04%，EPO/日本/中国同步布局，构建全球专利网络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31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未来趋势研判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79392"/>
            <a:ext cx="2697480" cy="731520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79392"/>
            <a:ext cx="54864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25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AI + 手术机器人深度融合，Case Insights 将成 Da Vinci 5 差异化核心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279392"/>
            <a:ext cx="2697480" cy="731520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4279392"/>
            <a:ext cx="54864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325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远程手术（Tele-surgery）商业化可期，5G + 低延迟专利已提前布局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279392"/>
            <a:ext cx="2697480" cy="731520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4279392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32511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单孔/自然腔道（SP）适应症扩展，新兴市场渗透加速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