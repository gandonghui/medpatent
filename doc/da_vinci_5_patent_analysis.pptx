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A"/>
        </a:solidFill>
        <a:effectLst/>
      </p:bgPr>
    </p:bg>
    <p:spTree>
      <p:nvGrpSpPr>
        <p:cNvPr id="1" name=""/>
        <p:cNvGrpSpPr/>
        <p:nvPr/>
      </p:nvGrpSpPr>
      <p:grpSpPr/>
      <p:sp>
        <p:nvSpPr>
          <p:cNvPr id="2" name="Rectangle 1"/>
          <p:cNvSpPr/>
          <p:nvPr/>
        </p:nvSpPr>
        <p:spPr>
          <a:xfrm>
            <a:off x="0" y="0"/>
            <a:ext cx="9144000" cy="411480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
            <a:ext cx="9144000" cy="27432"/>
          </a:xfrm>
          <a:prstGeom prst="rect">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38912"/>
            <a:ext cx="9144000" cy="27432"/>
          </a:xfrm>
          <a:prstGeom prst="rect">
            <a:avLst/>
          </a:prstGeom>
          <a:solidFill>
            <a:srgbClr val="004F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12064"/>
            <a:ext cx="9144000" cy="27432"/>
          </a:xfrm>
          <a:prstGeom prst="rect">
            <a:avLst/>
          </a:prstGeom>
          <a:solidFill>
            <a:srgbClr val="00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85216"/>
            <a:ext cx="9144000" cy="27432"/>
          </a:xfrm>
          <a:prstGeom prst="rect">
            <a:avLst/>
          </a:prstGeom>
          <a:solidFill>
            <a:srgbClr val="006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9144000" cy="27432"/>
          </a:xfrm>
          <a:prstGeom prst="rect">
            <a:avLst/>
          </a:prstGeom>
          <a:solidFill>
            <a:srgbClr val="007C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22960"/>
            <a:ext cx="8229600" cy="914400"/>
          </a:xfrm>
          <a:prstGeom prst="rect">
            <a:avLst/>
          </a:prstGeom>
          <a:noFill/>
        </p:spPr>
        <p:txBody>
          <a:bodyPr wrap="square">
            <a:spAutoFit/>
          </a:bodyPr>
          <a:lstStyle/>
          <a:p>
            <a:pPr algn="l"/>
            <a:r>
              <a:rPr sz="5400" b="1" i="0">
                <a:solidFill>
                  <a:srgbClr val="FFFFFF"/>
                </a:solidFill>
              </a:rPr>
              <a:t>Da Vinci 5</a:t>
            </a:r>
          </a:p>
        </p:txBody>
      </p:sp>
      <p:sp>
        <p:nvSpPr>
          <p:cNvPr id="9" name="TextBox 8"/>
          <p:cNvSpPr txBox="1"/>
          <p:nvPr/>
        </p:nvSpPr>
        <p:spPr>
          <a:xfrm>
            <a:off x="457200" y="1737360"/>
            <a:ext cx="8229600" cy="685800"/>
          </a:xfrm>
          <a:prstGeom prst="rect">
            <a:avLst/>
          </a:prstGeom>
          <a:noFill/>
        </p:spPr>
        <p:txBody>
          <a:bodyPr wrap="square">
            <a:spAutoFit/>
          </a:bodyPr>
          <a:lstStyle/>
          <a:p>
            <a:pPr algn="l"/>
            <a:r>
              <a:rPr sz="3000" b="1" i="0">
                <a:solidFill>
                  <a:srgbClr val="007ACC"/>
                </a:solidFill>
              </a:rPr>
              <a:t>腹腔镜专利深度分析</a:t>
            </a:r>
          </a:p>
        </p:txBody>
      </p:sp>
      <p:sp>
        <p:nvSpPr>
          <p:cNvPr id="10" name="TextBox 9"/>
          <p:cNvSpPr txBox="1"/>
          <p:nvPr/>
        </p:nvSpPr>
        <p:spPr>
          <a:xfrm>
            <a:off x="457200" y="2377440"/>
            <a:ext cx="8229600" cy="457200"/>
          </a:xfrm>
          <a:prstGeom prst="rect">
            <a:avLst/>
          </a:prstGeom>
          <a:noFill/>
        </p:spPr>
        <p:txBody>
          <a:bodyPr wrap="square">
            <a:spAutoFit/>
          </a:bodyPr>
          <a:lstStyle/>
          <a:p>
            <a:pPr algn="l"/>
            <a:r>
              <a:rPr sz="1600" b="0" i="1">
                <a:solidFill>
                  <a:srgbClr val="AACCFF"/>
                </a:solidFill>
              </a:rPr>
              <a:t>Intuitive Surgical Laparoscopic Patent Analysis</a:t>
            </a:r>
          </a:p>
        </p:txBody>
      </p:sp>
      <p:sp>
        <p:nvSpPr>
          <p:cNvPr id="11" name="Rectangle 10"/>
          <p:cNvSpPr/>
          <p:nvPr/>
        </p:nvSpPr>
        <p:spPr>
          <a:xfrm>
            <a:off x="457200" y="3108960"/>
            <a:ext cx="320040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91840"/>
            <a:ext cx="8229600" cy="411480"/>
          </a:xfrm>
          <a:prstGeom prst="rect">
            <a:avLst/>
          </a:prstGeom>
          <a:noFill/>
        </p:spPr>
        <p:txBody>
          <a:bodyPr wrap="square">
            <a:spAutoFit/>
          </a:bodyPr>
          <a:lstStyle/>
          <a:p>
            <a:pPr algn="l"/>
            <a:r>
              <a:rPr sz="1300" b="0" i="0">
                <a:solidFill>
                  <a:srgbClr val="CCDDFF"/>
                </a:solidFill>
              </a:rPr>
              <a:t>核心专利解读 · 技术演进分析 · 战略趋势研判</a:t>
            </a:r>
          </a:p>
        </p:txBody>
      </p:sp>
      <p:sp>
        <p:nvSpPr>
          <p:cNvPr id="13" name="Rectangle 12"/>
          <p:cNvSpPr/>
          <p:nvPr/>
        </p:nvSpPr>
        <p:spPr>
          <a:xfrm>
            <a:off x="0" y="4572000"/>
            <a:ext cx="9144000" cy="566928"/>
          </a:xfrm>
          <a:prstGeom prst="rect">
            <a:avLst/>
          </a:prstGeom>
          <a:solidFill>
            <a:srgbClr val="07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636008"/>
            <a:ext cx="8229600" cy="365760"/>
          </a:xfrm>
          <a:prstGeom prst="rect">
            <a:avLst/>
          </a:prstGeom>
          <a:noFill/>
        </p:spPr>
        <p:txBody>
          <a:bodyPr wrap="square">
            <a:spAutoFit/>
          </a:bodyPr>
          <a:lstStyle/>
          <a:p>
            <a:pPr algn="ctr"/>
            <a:r>
              <a:rPr sz="1000" b="0" i="0">
                <a:solidFill>
                  <a:srgbClr val="8899AA"/>
                </a:solidFill>
              </a:rPr>
              <a:t>Intuitive Surgical (NASDAQ: ISRG)  |  Da Vinci 5  |  2024 FDA Cleared  |  分析日期: 2026-04-03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02  目录  Contents</a:t>
            </a:r>
          </a:p>
        </p:txBody>
      </p:sp>
      <p:sp>
        <p:nvSpPr>
          <p:cNvPr id="4" name="Rectangle 3"/>
          <p:cNvSpPr/>
          <p:nvPr/>
        </p:nvSpPr>
        <p:spPr>
          <a:xfrm>
            <a:off x="365760" y="1060704"/>
            <a:ext cx="45720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60704"/>
            <a:ext cx="457200" cy="384048"/>
          </a:xfrm>
          <a:prstGeom prst="rect">
            <a:avLst/>
          </a:prstGeom>
          <a:noFill/>
        </p:spPr>
        <p:txBody>
          <a:bodyPr wrap="square">
            <a:spAutoFit/>
          </a:bodyPr>
          <a:lstStyle/>
          <a:p>
            <a:pPr algn="ctr"/>
            <a:r>
              <a:rPr sz="1200" b="1" i="0">
                <a:solidFill>
                  <a:srgbClr val="FFFFFF"/>
                </a:solidFill>
              </a:rPr>
              <a:t>01</a:t>
            </a:r>
          </a:p>
        </p:txBody>
      </p:sp>
      <p:sp>
        <p:nvSpPr>
          <p:cNvPr id="6" name="TextBox 5"/>
          <p:cNvSpPr txBox="1"/>
          <p:nvPr/>
        </p:nvSpPr>
        <p:spPr>
          <a:xfrm>
            <a:off x="960120" y="1005840"/>
            <a:ext cx="5029200" cy="274320"/>
          </a:xfrm>
          <a:prstGeom prst="rect">
            <a:avLst/>
          </a:prstGeom>
          <a:noFill/>
        </p:spPr>
        <p:txBody>
          <a:bodyPr wrap="square">
            <a:spAutoFit/>
          </a:bodyPr>
          <a:lstStyle/>
          <a:p>
            <a:pPr algn="l"/>
            <a:r>
              <a:rPr sz="1400" b="1" i="0">
                <a:solidFill>
                  <a:srgbClr val="1A2E4A"/>
                </a:solidFill>
              </a:rPr>
              <a:t>Da Vinci 5 概览</a:t>
            </a:r>
          </a:p>
        </p:txBody>
      </p:sp>
      <p:sp>
        <p:nvSpPr>
          <p:cNvPr id="7" name="TextBox 6"/>
          <p:cNvSpPr txBox="1"/>
          <p:nvPr/>
        </p:nvSpPr>
        <p:spPr>
          <a:xfrm>
            <a:off x="960120" y="1261872"/>
            <a:ext cx="5029200" cy="228600"/>
          </a:xfrm>
          <a:prstGeom prst="rect">
            <a:avLst/>
          </a:prstGeom>
          <a:noFill/>
        </p:spPr>
        <p:txBody>
          <a:bodyPr wrap="square">
            <a:spAutoFit/>
          </a:bodyPr>
          <a:lstStyle/>
          <a:p>
            <a:pPr algn="l"/>
            <a:r>
              <a:rPr sz="900" b="0" i="1">
                <a:solidFill>
                  <a:srgbClr val="445566"/>
                </a:solidFill>
              </a:rPr>
              <a:t>核心参数与五代技术演进</a:t>
            </a:r>
          </a:p>
        </p:txBody>
      </p:sp>
      <p:sp>
        <p:nvSpPr>
          <p:cNvPr id="8" name="Rectangle 7"/>
          <p:cNvSpPr/>
          <p:nvPr/>
        </p:nvSpPr>
        <p:spPr>
          <a:xfrm>
            <a:off x="365760" y="1609344"/>
            <a:ext cx="457200" cy="38404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09344"/>
            <a:ext cx="457200" cy="384048"/>
          </a:xfrm>
          <a:prstGeom prst="rect">
            <a:avLst/>
          </a:prstGeom>
          <a:noFill/>
        </p:spPr>
        <p:txBody>
          <a:bodyPr wrap="square">
            <a:spAutoFit/>
          </a:bodyPr>
          <a:lstStyle/>
          <a:p>
            <a:pPr algn="ctr"/>
            <a:r>
              <a:rPr sz="1200" b="1" i="0">
                <a:solidFill>
                  <a:srgbClr val="FFFFFF"/>
                </a:solidFill>
              </a:rPr>
              <a:t>02</a:t>
            </a:r>
          </a:p>
        </p:txBody>
      </p:sp>
      <p:sp>
        <p:nvSpPr>
          <p:cNvPr id="10" name="TextBox 9"/>
          <p:cNvSpPr txBox="1"/>
          <p:nvPr/>
        </p:nvSpPr>
        <p:spPr>
          <a:xfrm>
            <a:off x="960120" y="1554480"/>
            <a:ext cx="5029200" cy="274320"/>
          </a:xfrm>
          <a:prstGeom prst="rect">
            <a:avLst/>
          </a:prstGeom>
          <a:noFill/>
        </p:spPr>
        <p:txBody>
          <a:bodyPr wrap="square">
            <a:spAutoFit/>
          </a:bodyPr>
          <a:lstStyle/>
          <a:p>
            <a:pPr algn="l"/>
            <a:r>
              <a:rPr sz="1400" b="1" i="0">
                <a:solidFill>
                  <a:srgbClr val="1A2E4A"/>
                </a:solidFill>
              </a:rPr>
              <a:t>力反馈传感系统专利</a:t>
            </a:r>
          </a:p>
        </p:txBody>
      </p:sp>
      <p:sp>
        <p:nvSpPr>
          <p:cNvPr id="11" name="TextBox 10"/>
          <p:cNvSpPr txBox="1"/>
          <p:nvPr/>
        </p:nvSpPr>
        <p:spPr>
          <a:xfrm>
            <a:off x="960120" y="1810512"/>
            <a:ext cx="5029200" cy="228600"/>
          </a:xfrm>
          <a:prstGeom prst="rect">
            <a:avLst/>
          </a:prstGeom>
          <a:noFill/>
        </p:spPr>
        <p:txBody>
          <a:bodyPr wrap="square">
            <a:spAutoFit/>
          </a:bodyPr>
          <a:lstStyle/>
          <a:p>
            <a:pPr algn="l"/>
            <a:r>
              <a:rPr sz="900" b="0" i="1">
                <a:solidFill>
                  <a:srgbClr val="445566"/>
                </a:solidFill>
              </a:rPr>
              <a:t>Force Feedback System Patents</a:t>
            </a:r>
          </a:p>
        </p:txBody>
      </p:sp>
      <p:sp>
        <p:nvSpPr>
          <p:cNvPr id="12" name="Rectangle 11"/>
          <p:cNvSpPr/>
          <p:nvPr/>
        </p:nvSpPr>
        <p:spPr>
          <a:xfrm>
            <a:off x="365760" y="2157984"/>
            <a:ext cx="457200" cy="384048"/>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157984"/>
            <a:ext cx="457200" cy="384048"/>
          </a:xfrm>
          <a:prstGeom prst="rect">
            <a:avLst/>
          </a:prstGeom>
          <a:noFill/>
        </p:spPr>
        <p:txBody>
          <a:bodyPr wrap="square">
            <a:spAutoFit/>
          </a:bodyPr>
          <a:lstStyle/>
          <a:p>
            <a:pPr algn="ctr"/>
            <a:r>
              <a:rPr sz="1200" b="1" i="0">
                <a:solidFill>
                  <a:srgbClr val="FFFFFF"/>
                </a:solidFill>
              </a:rPr>
              <a:t>03</a:t>
            </a:r>
          </a:p>
        </p:txBody>
      </p:sp>
      <p:sp>
        <p:nvSpPr>
          <p:cNvPr id="14" name="TextBox 13"/>
          <p:cNvSpPr txBox="1"/>
          <p:nvPr/>
        </p:nvSpPr>
        <p:spPr>
          <a:xfrm>
            <a:off x="960120" y="2103120"/>
            <a:ext cx="5029200" cy="274320"/>
          </a:xfrm>
          <a:prstGeom prst="rect">
            <a:avLst/>
          </a:prstGeom>
          <a:noFill/>
        </p:spPr>
        <p:txBody>
          <a:bodyPr wrap="square">
            <a:spAutoFit/>
          </a:bodyPr>
          <a:lstStyle/>
          <a:p>
            <a:pPr algn="l"/>
            <a:r>
              <a:rPr sz="1400" b="1" i="0">
                <a:solidFill>
                  <a:srgbClr val="1A2E4A"/>
                </a:solidFill>
              </a:rPr>
              <a:t>3D 成像与视觉系统专利</a:t>
            </a:r>
          </a:p>
        </p:txBody>
      </p:sp>
      <p:sp>
        <p:nvSpPr>
          <p:cNvPr id="15" name="TextBox 14"/>
          <p:cNvSpPr txBox="1"/>
          <p:nvPr/>
        </p:nvSpPr>
        <p:spPr>
          <a:xfrm>
            <a:off x="960120" y="2359152"/>
            <a:ext cx="5029200" cy="228600"/>
          </a:xfrm>
          <a:prstGeom prst="rect">
            <a:avLst/>
          </a:prstGeom>
          <a:noFill/>
        </p:spPr>
        <p:txBody>
          <a:bodyPr wrap="square">
            <a:spAutoFit/>
          </a:bodyPr>
          <a:lstStyle/>
          <a:p>
            <a:pPr algn="l"/>
            <a:r>
              <a:rPr sz="900" b="0" i="1">
                <a:solidFill>
                  <a:srgbClr val="445566"/>
                </a:solidFill>
              </a:rPr>
              <a:t>3D Imaging &amp; Vision Patents</a:t>
            </a:r>
          </a:p>
        </p:txBody>
      </p:sp>
      <p:sp>
        <p:nvSpPr>
          <p:cNvPr id="16" name="Rectangle 15"/>
          <p:cNvSpPr/>
          <p:nvPr/>
        </p:nvSpPr>
        <p:spPr>
          <a:xfrm>
            <a:off x="365760" y="2706624"/>
            <a:ext cx="457200" cy="384048"/>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706624"/>
            <a:ext cx="457200" cy="384048"/>
          </a:xfrm>
          <a:prstGeom prst="rect">
            <a:avLst/>
          </a:prstGeom>
          <a:noFill/>
        </p:spPr>
        <p:txBody>
          <a:bodyPr wrap="square">
            <a:spAutoFit/>
          </a:bodyPr>
          <a:lstStyle/>
          <a:p>
            <a:pPr algn="ctr"/>
            <a:r>
              <a:rPr sz="1200" b="1" i="0">
                <a:solidFill>
                  <a:srgbClr val="FFFFFF"/>
                </a:solidFill>
              </a:rPr>
              <a:t>04</a:t>
            </a:r>
          </a:p>
        </p:txBody>
      </p:sp>
      <p:sp>
        <p:nvSpPr>
          <p:cNvPr id="18" name="TextBox 17"/>
          <p:cNvSpPr txBox="1"/>
          <p:nvPr/>
        </p:nvSpPr>
        <p:spPr>
          <a:xfrm>
            <a:off x="960120" y="2651760"/>
            <a:ext cx="5029200" cy="274320"/>
          </a:xfrm>
          <a:prstGeom prst="rect">
            <a:avLst/>
          </a:prstGeom>
          <a:noFill/>
        </p:spPr>
        <p:txBody>
          <a:bodyPr wrap="square">
            <a:spAutoFit/>
          </a:bodyPr>
          <a:lstStyle/>
          <a:p>
            <a:pPr algn="l"/>
            <a:r>
              <a:rPr sz="1400" b="1" i="0">
                <a:solidFill>
                  <a:srgbClr val="1A2E4A"/>
                </a:solidFill>
              </a:rPr>
              <a:t>AI 手术洞察平台专利</a:t>
            </a:r>
          </a:p>
        </p:txBody>
      </p:sp>
      <p:sp>
        <p:nvSpPr>
          <p:cNvPr id="19" name="TextBox 18"/>
          <p:cNvSpPr txBox="1"/>
          <p:nvPr/>
        </p:nvSpPr>
        <p:spPr>
          <a:xfrm>
            <a:off x="960120" y="2907792"/>
            <a:ext cx="5029200" cy="228600"/>
          </a:xfrm>
          <a:prstGeom prst="rect">
            <a:avLst/>
          </a:prstGeom>
          <a:noFill/>
        </p:spPr>
        <p:txBody>
          <a:bodyPr wrap="square">
            <a:spAutoFit/>
          </a:bodyPr>
          <a:lstStyle/>
          <a:p>
            <a:pPr algn="l"/>
            <a:r>
              <a:rPr sz="900" b="0" i="1">
                <a:solidFill>
                  <a:srgbClr val="445566"/>
                </a:solidFill>
              </a:rPr>
              <a:t>Case Insights AI Platform Patents</a:t>
            </a:r>
          </a:p>
        </p:txBody>
      </p:sp>
      <p:sp>
        <p:nvSpPr>
          <p:cNvPr id="20" name="Rectangle 19"/>
          <p:cNvSpPr/>
          <p:nvPr/>
        </p:nvSpPr>
        <p:spPr>
          <a:xfrm>
            <a:off x="365760" y="3255264"/>
            <a:ext cx="457200" cy="384048"/>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55264"/>
            <a:ext cx="457200" cy="384048"/>
          </a:xfrm>
          <a:prstGeom prst="rect">
            <a:avLst/>
          </a:prstGeom>
          <a:noFill/>
        </p:spPr>
        <p:txBody>
          <a:bodyPr wrap="square">
            <a:spAutoFit/>
          </a:bodyPr>
          <a:lstStyle/>
          <a:p>
            <a:pPr algn="ctr"/>
            <a:r>
              <a:rPr sz="1200" b="1" i="0">
                <a:solidFill>
                  <a:srgbClr val="FFFFFF"/>
                </a:solidFill>
              </a:rPr>
              <a:t>05</a:t>
            </a:r>
          </a:p>
        </p:txBody>
      </p:sp>
      <p:sp>
        <p:nvSpPr>
          <p:cNvPr id="22" name="TextBox 21"/>
          <p:cNvSpPr txBox="1"/>
          <p:nvPr/>
        </p:nvSpPr>
        <p:spPr>
          <a:xfrm>
            <a:off x="960120" y="3200400"/>
            <a:ext cx="5029200" cy="274320"/>
          </a:xfrm>
          <a:prstGeom prst="rect">
            <a:avLst/>
          </a:prstGeom>
          <a:noFill/>
        </p:spPr>
        <p:txBody>
          <a:bodyPr wrap="square">
            <a:spAutoFit/>
          </a:bodyPr>
          <a:lstStyle/>
          <a:p>
            <a:pPr algn="l"/>
            <a:r>
              <a:rPr sz="1400" b="1" i="0">
                <a:solidFill>
                  <a:srgbClr val="1A2E4A"/>
                </a:solidFill>
              </a:rPr>
              <a:t>先进计算平台专利</a:t>
            </a:r>
          </a:p>
        </p:txBody>
      </p:sp>
      <p:sp>
        <p:nvSpPr>
          <p:cNvPr id="23" name="TextBox 22"/>
          <p:cNvSpPr txBox="1"/>
          <p:nvPr/>
        </p:nvSpPr>
        <p:spPr>
          <a:xfrm>
            <a:off x="960120" y="3456432"/>
            <a:ext cx="5029200" cy="228600"/>
          </a:xfrm>
          <a:prstGeom prst="rect">
            <a:avLst/>
          </a:prstGeom>
          <a:noFill/>
        </p:spPr>
        <p:txBody>
          <a:bodyPr wrap="square">
            <a:spAutoFit/>
          </a:bodyPr>
          <a:lstStyle/>
          <a:p>
            <a:pPr algn="l"/>
            <a:r>
              <a:rPr sz="900" b="0" i="1">
                <a:solidFill>
                  <a:srgbClr val="445566"/>
                </a:solidFill>
              </a:rPr>
              <a:t>Advanced Computing Platform Patents</a:t>
            </a:r>
          </a:p>
        </p:txBody>
      </p:sp>
      <p:sp>
        <p:nvSpPr>
          <p:cNvPr id="24" name="Rectangle 23"/>
          <p:cNvSpPr/>
          <p:nvPr/>
        </p:nvSpPr>
        <p:spPr>
          <a:xfrm>
            <a:off x="365760" y="3803904"/>
            <a:ext cx="457200" cy="384048"/>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803904"/>
            <a:ext cx="457200" cy="384048"/>
          </a:xfrm>
          <a:prstGeom prst="rect">
            <a:avLst/>
          </a:prstGeom>
          <a:noFill/>
        </p:spPr>
        <p:txBody>
          <a:bodyPr wrap="square">
            <a:spAutoFit/>
          </a:bodyPr>
          <a:lstStyle/>
          <a:p>
            <a:pPr algn="ctr"/>
            <a:r>
              <a:rPr sz="1200" b="1" i="0">
                <a:solidFill>
                  <a:srgbClr val="FFFFFF"/>
                </a:solidFill>
              </a:rPr>
              <a:t>06</a:t>
            </a:r>
          </a:p>
        </p:txBody>
      </p:sp>
      <p:sp>
        <p:nvSpPr>
          <p:cNvPr id="26" name="TextBox 25"/>
          <p:cNvSpPr txBox="1"/>
          <p:nvPr/>
        </p:nvSpPr>
        <p:spPr>
          <a:xfrm>
            <a:off x="960120" y="3749040"/>
            <a:ext cx="5029200" cy="274320"/>
          </a:xfrm>
          <a:prstGeom prst="rect">
            <a:avLst/>
          </a:prstGeom>
          <a:noFill/>
        </p:spPr>
        <p:txBody>
          <a:bodyPr wrap="square">
            <a:spAutoFit/>
          </a:bodyPr>
          <a:lstStyle/>
          <a:p>
            <a:pPr algn="l"/>
            <a:r>
              <a:rPr sz="1400" b="1" i="0">
                <a:solidFill>
                  <a:srgbClr val="1A2E4A"/>
                </a:solidFill>
              </a:rPr>
              <a:t>手术器械与内窥镜控制专利</a:t>
            </a:r>
          </a:p>
        </p:txBody>
      </p:sp>
      <p:sp>
        <p:nvSpPr>
          <p:cNvPr id="27" name="TextBox 26"/>
          <p:cNvSpPr txBox="1"/>
          <p:nvPr/>
        </p:nvSpPr>
        <p:spPr>
          <a:xfrm>
            <a:off x="960120" y="4005072"/>
            <a:ext cx="5029200" cy="228600"/>
          </a:xfrm>
          <a:prstGeom prst="rect">
            <a:avLst/>
          </a:prstGeom>
          <a:noFill/>
        </p:spPr>
        <p:txBody>
          <a:bodyPr wrap="square">
            <a:spAutoFit/>
          </a:bodyPr>
          <a:lstStyle/>
          <a:p>
            <a:pPr algn="l"/>
            <a:r>
              <a:rPr sz="900" b="0" i="1">
                <a:solidFill>
                  <a:srgbClr val="445566"/>
                </a:solidFill>
              </a:rPr>
              <a:t>Instrument &amp; Endoscopy Control Patents</a:t>
            </a:r>
          </a:p>
        </p:txBody>
      </p:sp>
      <p:sp>
        <p:nvSpPr>
          <p:cNvPr id="28" name="Rectangle 27"/>
          <p:cNvSpPr/>
          <p:nvPr/>
        </p:nvSpPr>
        <p:spPr>
          <a:xfrm>
            <a:off x="365760" y="4352544"/>
            <a:ext cx="45720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352544"/>
            <a:ext cx="457200" cy="384048"/>
          </a:xfrm>
          <a:prstGeom prst="rect">
            <a:avLst/>
          </a:prstGeom>
          <a:noFill/>
        </p:spPr>
        <p:txBody>
          <a:bodyPr wrap="square">
            <a:spAutoFit/>
          </a:bodyPr>
          <a:lstStyle/>
          <a:p>
            <a:pPr algn="ctr"/>
            <a:r>
              <a:rPr sz="1200" b="1" i="0">
                <a:solidFill>
                  <a:srgbClr val="FFFFFF"/>
                </a:solidFill>
              </a:rPr>
              <a:t>07</a:t>
            </a:r>
          </a:p>
        </p:txBody>
      </p:sp>
      <p:sp>
        <p:nvSpPr>
          <p:cNvPr id="30" name="TextBox 29"/>
          <p:cNvSpPr txBox="1"/>
          <p:nvPr/>
        </p:nvSpPr>
        <p:spPr>
          <a:xfrm>
            <a:off x="960120" y="4297680"/>
            <a:ext cx="5029200" cy="274320"/>
          </a:xfrm>
          <a:prstGeom prst="rect">
            <a:avLst/>
          </a:prstGeom>
          <a:noFill/>
        </p:spPr>
        <p:txBody>
          <a:bodyPr wrap="square">
            <a:spAutoFit/>
          </a:bodyPr>
          <a:lstStyle/>
          <a:p>
            <a:pPr algn="l"/>
            <a:r>
              <a:rPr sz="1400" b="1" i="0">
                <a:solidFill>
                  <a:srgbClr val="1A2E4A"/>
                </a:solidFill>
              </a:rPr>
              <a:t>专利战略总结</a:t>
            </a:r>
          </a:p>
        </p:txBody>
      </p:sp>
      <p:sp>
        <p:nvSpPr>
          <p:cNvPr id="31" name="TextBox 30"/>
          <p:cNvSpPr txBox="1"/>
          <p:nvPr/>
        </p:nvSpPr>
        <p:spPr>
          <a:xfrm>
            <a:off x="960120" y="4553712"/>
            <a:ext cx="5029200" cy="228600"/>
          </a:xfrm>
          <a:prstGeom prst="rect">
            <a:avLst/>
          </a:prstGeom>
          <a:noFill/>
        </p:spPr>
        <p:txBody>
          <a:bodyPr wrap="square">
            <a:spAutoFit/>
          </a:bodyPr>
          <a:lstStyle/>
          <a:p>
            <a:pPr algn="l"/>
            <a:r>
              <a:rPr sz="900" b="0" i="1">
                <a:solidFill>
                  <a:srgbClr val="445566"/>
                </a:solidFill>
              </a:rPr>
              <a:t>Strategic Patent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03  Da Vinci 5 概览  Overview</a:t>
            </a:r>
          </a:p>
        </p:txBody>
      </p:sp>
      <p:sp>
        <p:nvSpPr>
          <p:cNvPr id="4" name="Rectangle 3"/>
          <p:cNvSpPr/>
          <p:nvPr/>
        </p:nvSpPr>
        <p:spPr>
          <a:xfrm>
            <a:off x="36576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325880" cy="54864"/>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51560"/>
            <a:ext cx="1188720" cy="228600"/>
          </a:xfrm>
          <a:prstGeom prst="rect">
            <a:avLst/>
          </a:prstGeom>
          <a:noFill/>
        </p:spPr>
        <p:txBody>
          <a:bodyPr wrap="square">
            <a:spAutoFit/>
          </a:bodyPr>
          <a:lstStyle/>
          <a:p>
            <a:pPr algn="l"/>
            <a:r>
              <a:rPr sz="900" b="0" i="0">
                <a:solidFill>
                  <a:srgbClr val="445566"/>
                </a:solidFill>
              </a:rPr>
              <a:t>FDA 获批</a:t>
            </a:r>
          </a:p>
        </p:txBody>
      </p:sp>
      <p:sp>
        <p:nvSpPr>
          <p:cNvPr id="7" name="TextBox 6"/>
          <p:cNvSpPr txBox="1"/>
          <p:nvPr/>
        </p:nvSpPr>
        <p:spPr>
          <a:xfrm>
            <a:off x="438912" y="1261872"/>
            <a:ext cx="1188720" cy="274320"/>
          </a:xfrm>
          <a:prstGeom prst="rect">
            <a:avLst/>
          </a:prstGeom>
          <a:noFill/>
        </p:spPr>
        <p:txBody>
          <a:bodyPr wrap="square">
            <a:spAutoFit/>
          </a:bodyPr>
          <a:lstStyle/>
          <a:p>
            <a:pPr algn="l"/>
            <a:r>
              <a:rPr sz="1400" b="1" i="0">
                <a:solidFill>
                  <a:srgbClr val="1A2E4A"/>
                </a:solidFill>
              </a:rPr>
              <a:t>2024年3月</a:t>
            </a:r>
          </a:p>
        </p:txBody>
      </p:sp>
      <p:sp>
        <p:nvSpPr>
          <p:cNvPr id="8" name="Rectangle 7"/>
          <p:cNvSpPr/>
          <p:nvPr/>
        </p:nvSpPr>
        <p:spPr>
          <a:xfrm>
            <a:off x="178308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3080" y="960120"/>
            <a:ext cx="132588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56232" y="1051560"/>
            <a:ext cx="1188720" cy="228600"/>
          </a:xfrm>
          <a:prstGeom prst="rect">
            <a:avLst/>
          </a:prstGeom>
          <a:noFill/>
        </p:spPr>
        <p:txBody>
          <a:bodyPr wrap="square">
            <a:spAutoFit/>
          </a:bodyPr>
          <a:lstStyle/>
          <a:p>
            <a:pPr algn="l"/>
            <a:r>
              <a:rPr sz="900" b="0" i="0">
                <a:solidFill>
                  <a:srgbClr val="445566"/>
                </a:solidFill>
              </a:rPr>
              <a:t>计算能力</a:t>
            </a:r>
          </a:p>
        </p:txBody>
      </p:sp>
      <p:sp>
        <p:nvSpPr>
          <p:cNvPr id="11" name="TextBox 10"/>
          <p:cNvSpPr txBox="1"/>
          <p:nvPr/>
        </p:nvSpPr>
        <p:spPr>
          <a:xfrm>
            <a:off x="1856232" y="1261872"/>
            <a:ext cx="1188720" cy="274320"/>
          </a:xfrm>
          <a:prstGeom prst="rect">
            <a:avLst/>
          </a:prstGeom>
          <a:noFill/>
        </p:spPr>
        <p:txBody>
          <a:bodyPr wrap="square">
            <a:spAutoFit/>
          </a:bodyPr>
          <a:lstStyle/>
          <a:p>
            <a:pPr algn="l"/>
            <a:r>
              <a:rPr sz="1400" b="1" i="0">
                <a:solidFill>
                  <a:srgbClr val="1A2E4A"/>
                </a:solidFill>
              </a:rPr>
              <a:t>↑ 10,000倍</a:t>
            </a:r>
          </a:p>
        </p:txBody>
      </p:sp>
      <p:sp>
        <p:nvSpPr>
          <p:cNvPr id="12" name="Rectangle 11"/>
          <p:cNvSpPr/>
          <p:nvPr/>
        </p:nvSpPr>
        <p:spPr>
          <a:xfrm>
            <a:off x="320040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960120"/>
            <a:ext cx="1325880" cy="54864"/>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3552" y="1051560"/>
            <a:ext cx="1188720" cy="228600"/>
          </a:xfrm>
          <a:prstGeom prst="rect">
            <a:avLst/>
          </a:prstGeom>
          <a:noFill/>
        </p:spPr>
        <p:txBody>
          <a:bodyPr wrap="square">
            <a:spAutoFit/>
          </a:bodyPr>
          <a:lstStyle/>
          <a:p>
            <a:pPr algn="l"/>
            <a:r>
              <a:rPr sz="900" b="0" i="0">
                <a:solidFill>
                  <a:srgbClr val="445566"/>
                </a:solidFill>
              </a:rPr>
              <a:t>力反馈</a:t>
            </a:r>
          </a:p>
        </p:txBody>
      </p:sp>
      <p:sp>
        <p:nvSpPr>
          <p:cNvPr id="15" name="TextBox 14"/>
          <p:cNvSpPr txBox="1"/>
          <p:nvPr/>
        </p:nvSpPr>
        <p:spPr>
          <a:xfrm>
            <a:off x="3273552" y="1261872"/>
            <a:ext cx="1188720" cy="274320"/>
          </a:xfrm>
          <a:prstGeom prst="rect">
            <a:avLst/>
          </a:prstGeom>
          <a:noFill/>
        </p:spPr>
        <p:txBody>
          <a:bodyPr wrap="square">
            <a:spAutoFit/>
          </a:bodyPr>
          <a:lstStyle/>
          <a:p>
            <a:pPr algn="l"/>
            <a:r>
              <a:rPr sz="1400" b="1" i="0">
                <a:solidFill>
                  <a:srgbClr val="1A2E4A"/>
                </a:solidFill>
              </a:rPr>
              <a:t>首创内置传感</a:t>
            </a:r>
          </a:p>
        </p:txBody>
      </p:sp>
      <p:sp>
        <p:nvSpPr>
          <p:cNvPr id="16" name="Rectangle 15"/>
          <p:cNvSpPr/>
          <p:nvPr/>
        </p:nvSpPr>
        <p:spPr>
          <a:xfrm>
            <a:off x="461772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960120"/>
            <a:ext cx="1325880" cy="54864"/>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90872" y="1051560"/>
            <a:ext cx="1188720" cy="228600"/>
          </a:xfrm>
          <a:prstGeom prst="rect">
            <a:avLst/>
          </a:prstGeom>
          <a:noFill/>
        </p:spPr>
        <p:txBody>
          <a:bodyPr wrap="square">
            <a:spAutoFit/>
          </a:bodyPr>
          <a:lstStyle/>
          <a:p>
            <a:pPr algn="l"/>
            <a:r>
              <a:rPr sz="900" b="0" i="0">
                <a:solidFill>
                  <a:srgbClr val="445566"/>
                </a:solidFill>
              </a:rPr>
              <a:t>AI 平台</a:t>
            </a:r>
          </a:p>
        </p:txBody>
      </p:sp>
      <p:sp>
        <p:nvSpPr>
          <p:cNvPr id="19" name="TextBox 18"/>
          <p:cNvSpPr txBox="1"/>
          <p:nvPr/>
        </p:nvSpPr>
        <p:spPr>
          <a:xfrm>
            <a:off x="4690872" y="1261872"/>
            <a:ext cx="1188720" cy="274320"/>
          </a:xfrm>
          <a:prstGeom prst="rect">
            <a:avLst/>
          </a:prstGeom>
          <a:noFill/>
        </p:spPr>
        <p:txBody>
          <a:bodyPr wrap="square">
            <a:spAutoFit/>
          </a:bodyPr>
          <a:lstStyle/>
          <a:p>
            <a:pPr algn="l"/>
            <a:r>
              <a:rPr sz="1400" b="1" i="0">
                <a:solidFill>
                  <a:srgbClr val="1A2E4A"/>
                </a:solidFill>
              </a:rPr>
              <a:t>Case Insights</a:t>
            </a:r>
          </a:p>
        </p:txBody>
      </p:sp>
      <p:sp>
        <p:nvSpPr>
          <p:cNvPr id="20" name="Rectangle 19"/>
          <p:cNvSpPr/>
          <p:nvPr/>
        </p:nvSpPr>
        <p:spPr>
          <a:xfrm>
            <a:off x="603504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0" y="960120"/>
            <a:ext cx="1325880" cy="54864"/>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08192" y="1051560"/>
            <a:ext cx="1188720" cy="228600"/>
          </a:xfrm>
          <a:prstGeom prst="rect">
            <a:avLst/>
          </a:prstGeom>
          <a:noFill/>
        </p:spPr>
        <p:txBody>
          <a:bodyPr wrap="square">
            <a:spAutoFit/>
          </a:bodyPr>
          <a:lstStyle/>
          <a:p>
            <a:pPr algn="l"/>
            <a:r>
              <a:rPr sz="900" b="0" i="0">
                <a:solidFill>
                  <a:srgbClr val="445566"/>
                </a:solidFill>
              </a:rPr>
              <a:t>器械臂</a:t>
            </a:r>
          </a:p>
        </p:txBody>
      </p:sp>
      <p:sp>
        <p:nvSpPr>
          <p:cNvPr id="23" name="TextBox 22"/>
          <p:cNvSpPr txBox="1"/>
          <p:nvPr/>
        </p:nvSpPr>
        <p:spPr>
          <a:xfrm>
            <a:off x="6108192" y="1261872"/>
            <a:ext cx="1188720" cy="274320"/>
          </a:xfrm>
          <a:prstGeom prst="rect">
            <a:avLst/>
          </a:prstGeom>
          <a:noFill/>
        </p:spPr>
        <p:txBody>
          <a:bodyPr wrap="square">
            <a:spAutoFit/>
          </a:bodyPr>
          <a:lstStyle/>
          <a:p>
            <a:pPr algn="l"/>
            <a:r>
              <a:rPr sz="1400" b="1" i="0">
                <a:solidFill>
                  <a:srgbClr val="1A2E4A"/>
                </a:solidFill>
              </a:rPr>
              <a:t>4臂 + 1内镜</a:t>
            </a:r>
          </a:p>
        </p:txBody>
      </p:sp>
      <p:sp>
        <p:nvSpPr>
          <p:cNvPr id="24" name="Rectangle 23"/>
          <p:cNvSpPr/>
          <p:nvPr/>
        </p:nvSpPr>
        <p:spPr>
          <a:xfrm>
            <a:off x="7452360" y="960120"/>
            <a:ext cx="1325880" cy="68580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52360" y="960120"/>
            <a:ext cx="1325880" cy="54864"/>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25512" y="1051560"/>
            <a:ext cx="1188720" cy="228600"/>
          </a:xfrm>
          <a:prstGeom prst="rect">
            <a:avLst/>
          </a:prstGeom>
          <a:noFill/>
        </p:spPr>
        <p:txBody>
          <a:bodyPr wrap="square">
            <a:spAutoFit/>
          </a:bodyPr>
          <a:lstStyle/>
          <a:p>
            <a:pPr algn="l"/>
            <a:r>
              <a:rPr sz="900" b="0" i="0">
                <a:solidFill>
                  <a:srgbClr val="445566"/>
                </a:solidFill>
              </a:rPr>
              <a:t>器械直径</a:t>
            </a:r>
          </a:p>
        </p:txBody>
      </p:sp>
      <p:sp>
        <p:nvSpPr>
          <p:cNvPr id="27" name="TextBox 26"/>
          <p:cNvSpPr txBox="1"/>
          <p:nvPr/>
        </p:nvSpPr>
        <p:spPr>
          <a:xfrm>
            <a:off x="7525512" y="1261872"/>
            <a:ext cx="1188720" cy="274320"/>
          </a:xfrm>
          <a:prstGeom prst="rect">
            <a:avLst/>
          </a:prstGeom>
          <a:noFill/>
        </p:spPr>
        <p:txBody>
          <a:bodyPr wrap="square">
            <a:spAutoFit/>
          </a:bodyPr>
          <a:lstStyle/>
          <a:p>
            <a:pPr algn="l"/>
            <a:r>
              <a:rPr sz="1400" b="1" i="0">
                <a:solidFill>
                  <a:srgbClr val="1A2E4A"/>
                </a:solidFill>
              </a:rPr>
              <a:t>8mm / 5mm</a:t>
            </a:r>
          </a:p>
        </p:txBody>
      </p:sp>
      <p:sp>
        <p:nvSpPr>
          <p:cNvPr id="28" name="TextBox 27"/>
          <p:cNvSpPr txBox="1"/>
          <p:nvPr/>
        </p:nvSpPr>
        <p:spPr>
          <a:xfrm>
            <a:off x="365760" y="1828800"/>
            <a:ext cx="8229600" cy="320040"/>
          </a:xfrm>
          <a:prstGeom prst="rect">
            <a:avLst/>
          </a:prstGeom>
          <a:noFill/>
        </p:spPr>
        <p:txBody>
          <a:bodyPr wrap="square">
            <a:spAutoFit/>
          </a:bodyPr>
          <a:lstStyle/>
          <a:p>
            <a:pPr algn="l"/>
            <a:r>
              <a:rPr sz="1300" b="1" i="0">
                <a:solidFill>
                  <a:srgbClr val="002D6A"/>
                </a:solidFill>
              </a:rPr>
              <a:t>达芬奇手术系统五代技术演进</a:t>
            </a:r>
          </a:p>
        </p:txBody>
      </p:sp>
      <p:sp>
        <p:nvSpPr>
          <p:cNvPr id="29" name="Rectangle 28"/>
          <p:cNvSpPr/>
          <p:nvPr/>
        </p:nvSpPr>
        <p:spPr>
          <a:xfrm>
            <a:off x="365760" y="2148840"/>
            <a:ext cx="8412480" cy="36576"/>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70432" y="2103120"/>
            <a:ext cx="219456" cy="219456"/>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2377440"/>
            <a:ext cx="914400" cy="228600"/>
          </a:xfrm>
          <a:prstGeom prst="rect">
            <a:avLst/>
          </a:prstGeom>
          <a:noFill/>
        </p:spPr>
        <p:txBody>
          <a:bodyPr wrap="square">
            <a:spAutoFit/>
          </a:bodyPr>
          <a:lstStyle/>
          <a:p>
            <a:pPr algn="ctr"/>
            <a:r>
              <a:rPr sz="900" b="1" i="0">
                <a:solidFill>
                  <a:srgbClr val="445566"/>
                </a:solidFill>
              </a:rPr>
              <a:t>2000 FDA</a:t>
            </a:r>
          </a:p>
        </p:txBody>
      </p:sp>
      <p:sp>
        <p:nvSpPr>
          <p:cNvPr id="32" name="TextBox 31"/>
          <p:cNvSpPr txBox="1"/>
          <p:nvPr/>
        </p:nvSpPr>
        <p:spPr>
          <a:xfrm>
            <a:off x="457200" y="2606040"/>
            <a:ext cx="1645920" cy="411480"/>
          </a:xfrm>
          <a:prstGeom prst="rect">
            <a:avLst/>
          </a:prstGeom>
          <a:noFill/>
        </p:spPr>
        <p:txBody>
          <a:bodyPr wrap="square">
            <a:spAutoFit/>
          </a:bodyPr>
          <a:lstStyle/>
          <a:p>
            <a:pPr algn="ctr"/>
            <a:r>
              <a:rPr sz="900" b="1" i="0">
                <a:solidFill>
                  <a:srgbClr val="1A2E4A"/>
                </a:solidFill>
              </a:rPr>
              <a:t>Da Vinci I
1999</a:t>
            </a:r>
          </a:p>
        </p:txBody>
      </p:sp>
      <p:sp>
        <p:nvSpPr>
          <p:cNvPr id="33" name="TextBox 32"/>
          <p:cNvSpPr txBox="1"/>
          <p:nvPr/>
        </p:nvSpPr>
        <p:spPr>
          <a:xfrm>
            <a:off x="457200" y="3017520"/>
            <a:ext cx="1645920" cy="411480"/>
          </a:xfrm>
          <a:prstGeom prst="rect">
            <a:avLst/>
          </a:prstGeom>
          <a:noFill/>
        </p:spPr>
        <p:txBody>
          <a:bodyPr wrap="square">
            <a:spAutoFit/>
          </a:bodyPr>
          <a:lstStyle/>
          <a:p>
            <a:pPr algn="ctr"/>
            <a:r>
              <a:rPr sz="800" b="0" i="0">
                <a:solidFill>
                  <a:srgbClr val="445566"/>
                </a:solidFill>
              </a:rPr>
              <a:t>首个商业化
手术机器人</a:t>
            </a:r>
          </a:p>
        </p:txBody>
      </p:sp>
      <p:sp>
        <p:nvSpPr>
          <p:cNvPr id="34" name="TextBox 33"/>
          <p:cNvSpPr txBox="1"/>
          <p:nvPr/>
        </p:nvSpPr>
        <p:spPr>
          <a:xfrm>
            <a:off x="457200" y="3429000"/>
            <a:ext cx="1645920" cy="365760"/>
          </a:xfrm>
          <a:prstGeom prst="rect">
            <a:avLst/>
          </a:prstGeom>
          <a:noFill/>
        </p:spPr>
        <p:txBody>
          <a:bodyPr wrap="square">
            <a:spAutoFit/>
          </a:bodyPr>
          <a:lstStyle/>
          <a:p>
            <a:pPr algn="ctr"/>
            <a:r>
              <a:rPr sz="700" b="0" i="1">
                <a:solidFill>
                  <a:srgbClr val="007ACC"/>
                </a:solidFill>
              </a:rPr>
              <a:t>US6783524B2
3,743次引用</a:t>
            </a:r>
          </a:p>
        </p:txBody>
      </p:sp>
      <p:sp>
        <p:nvSpPr>
          <p:cNvPr id="35" name="Oval 34"/>
          <p:cNvSpPr/>
          <p:nvPr/>
        </p:nvSpPr>
        <p:spPr>
          <a:xfrm>
            <a:off x="2889504" y="2103120"/>
            <a:ext cx="219456" cy="219456"/>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42032" y="2377440"/>
            <a:ext cx="914400" cy="228600"/>
          </a:xfrm>
          <a:prstGeom prst="rect">
            <a:avLst/>
          </a:prstGeom>
          <a:noFill/>
        </p:spPr>
        <p:txBody>
          <a:bodyPr wrap="square">
            <a:spAutoFit/>
          </a:bodyPr>
          <a:lstStyle/>
          <a:p>
            <a:pPr algn="ctr"/>
            <a:r>
              <a:rPr sz="900" b="1" i="0">
                <a:solidFill>
                  <a:srgbClr val="445566"/>
                </a:solidFill>
              </a:rPr>
              <a:t>2006</a:t>
            </a:r>
          </a:p>
        </p:txBody>
      </p:sp>
      <p:sp>
        <p:nvSpPr>
          <p:cNvPr id="37" name="TextBox 36"/>
          <p:cNvSpPr txBox="1"/>
          <p:nvPr/>
        </p:nvSpPr>
        <p:spPr>
          <a:xfrm>
            <a:off x="2176272" y="2606040"/>
            <a:ext cx="1645920" cy="411480"/>
          </a:xfrm>
          <a:prstGeom prst="rect">
            <a:avLst/>
          </a:prstGeom>
          <a:noFill/>
        </p:spPr>
        <p:txBody>
          <a:bodyPr wrap="square">
            <a:spAutoFit/>
          </a:bodyPr>
          <a:lstStyle/>
          <a:p>
            <a:pPr algn="ctr"/>
            <a:r>
              <a:rPr sz="900" b="1" i="0">
                <a:solidFill>
                  <a:srgbClr val="1A2E4A"/>
                </a:solidFill>
              </a:rPr>
              <a:t>Da Vinci S
2006</a:t>
            </a:r>
          </a:p>
        </p:txBody>
      </p:sp>
      <p:sp>
        <p:nvSpPr>
          <p:cNvPr id="38" name="TextBox 37"/>
          <p:cNvSpPr txBox="1"/>
          <p:nvPr/>
        </p:nvSpPr>
        <p:spPr>
          <a:xfrm>
            <a:off x="2176272" y="3017520"/>
            <a:ext cx="1645920" cy="411480"/>
          </a:xfrm>
          <a:prstGeom prst="rect">
            <a:avLst/>
          </a:prstGeom>
          <a:noFill/>
        </p:spPr>
        <p:txBody>
          <a:bodyPr wrap="square">
            <a:spAutoFit/>
          </a:bodyPr>
          <a:lstStyle/>
          <a:p>
            <a:pPr algn="ctr"/>
            <a:r>
              <a:rPr sz="800" b="0" i="0">
                <a:solidFill>
                  <a:srgbClr val="445566"/>
                </a:solidFill>
              </a:rPr>
              <a:t>高清3D视觉
优化操控台</a:t>
            </a:r>
          </a:p>
        </p:txBody>
      </p:sp>
      <p:sp>
        <p:nvSpPr>
          <p:cNvPr id="39" name="TextBox 38"/>
          <p:cNvSpPr txBox="1"/>
          <p:nvPr/>
        </p:nvSpPr>
        <p:spPr>
          <a:xfrm>
            <a:off x="2176272" y="3429000"/>
            <a:ext cx="1645920" cy="365760"/>
          </a:xfrm>
          <a:prstGeom prst="rect">
            <a:avLst/>
          </a:prstGeom>
          <a:noFill/>
        </p:spPr>
        <p:txBody>
          <a:bodyPr wrap="square">
            <a:spAutoFit/>
          </a:bodyPr>
          <a:lstStyle/>
          <a:p>
            <a:pPr algn="ctr"/>
            <a:r>
              <a:rPr sz="700" b="0" i="1">
                <a:solidFill>
                  <a:srgbClr val="007ACC"/>
                </a:solidFill>
              </a:rPr>
              <a:t>US7935130B2
1,200次引用</a:t>
            </a:r>
          </a:p>
        </p:txBody>
      </p:sp>
      <p:sp>
        <p:nvSpPr>
          <p:cNvPr id="40" name="Oval 39"/>
          <p:cNvSpPr/>
          <p:nvPr/>
        </p:nvSpPr>
        <p:spPr>
          <a:xfrm>
            <a:off x="4608576" y="2103120"/>
            <a:ext cx="219456" cy="219456"/>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61104" y="2377440"/>
            <a:ext cx="914400" cy="228600"/>
          </a:xfrm>
          <a:prstGeom prst="rect">
            <a:avLst/>
          </a:prstGeom>
          <a:noFill/>
        </p:spPr>
        <p:txBody>
          <a:bodyPr wrap="square">
            <a:spAutoFit/>
          </a:bodyPr>
          <a:lstStyle/>
          <a:p>
            <a:pPr algn="ctr"/>
            <a:r>
              <a:rPr sz="900" b="1" i="0">
                <a:solidFill>
                  <a:srgbClr val="445566"/>
                </a:solidFill>
              </a:rPr>
              <a:t>2009</a:t>
            </a:r>
          </a:p>
        </p:txBody>
      </p:sp>
      <p:sp>
        <p:nvSpPr>
          <p:cNvPr id="42" name="TextBox 41"/>
          <p:cNvSpPr txBox="1"/>
          <p:nvPr/>
        </p:nvSpPr>
        <p:spPr>
          <a:xfrm>
            <a:off x="3895344" y="2606040"/>
            <a:ext cx="1645920" cy="411480"/>
          </a:xfrm>
          <a:prstGeom prst="rect">
            <a:avLst/>
          </a:prstGeom>
          <a:noFill/>
        </p:spPr>
        <p:txBody>
          <a:bodyPr wrap="square">
            <a:spAutoFit/>
          </a:bodyPr>
          <a:lstStyle/>
          <a:p>
            <a:pPr algn="ctr"/>
            <a:r>
              <a:rPr sz="900" b="1" i="0">
                <a:solidFill>
                  <a:srgbClr val="1A2E4A"/>
                </a:solidFill>
              </a:rPr>
              <a:t>Da Vinci Si
2009</a:t>
            </a:r>
          </a:p>
        </p:txBody>
      </p:sp>
      <p:sp>
        <p:nvSpPr>
          <p:cNvPr id="43" name="TextBox 42"/>
          <p:cNvSpPr txBox="1"/>
          <p:nvPr/>
        </p:nvSpPr>
        <p:spPr>
          <a:xfrm>
            <a:off x="3895344" y="3017520"/>
            <a:ext cx="1645920" cy="411480"/>
          </a:xfrm>
          <a:prstGeom prst="rect">
            <a:avLst/>
          </a:prstGeom>
          <a:noFill/>
        </p:spPr>
        <p:txBody>
          <a:bodyPr wrap="square">
            <a:spAutoFit/>
          </a:bodyPr>
          <a:lstStyle/>
          <a:p>
            <a:pPr algn="ctr"/>
            <a:r>
              <a:rPr sz="800" b="0" i="0">
                <a:solidFill>
                  <a:srgbClr val="445566"/>
                </a:solidFill>
              </a:rPr>
              <a:t>双臂协同
双操控台</a:t>
            </a:r>
          </a:p>
        </p:txBody>
      </p:sp>
      <p:sp>
        <p:nvSpPr>
          <p:cNvPr id="44" name="TextBox 43"/>
          <p:cNvSpPr txBox="1"/>
          <p:nvPr/>
        </p:nvSpPr>
        <p:spPr>
          <a:xfrm>
            <a:off x="3895344" y="3429000"/>
            <a:ext cx="1645920" cy="365760"/>
          </a:xfrm>
          <a:prstGeom prst="rect">
            <a:avLst/>
          </a:prstGeom>
          <a:noFill/>
        </p:spPr>
        <p:txBody>
          <a:bodyPr wrap="square">
            <a:spAutoFit/>
          </a:bodyPr>
          <a:lstStyle/>
          <a:p>
            <a:pPr algn="ctr"/>
            <a:r>
              <a:rPr sz="700" b="0" i="1">
                <a:solidFill>
                  <a:srgbClr val="007ACC"/>
                </a:solidFill>
              </a:rPr>
              <a:t>US8221300B2
890次引用</a:t>
            </a:r>
          </a:p>
        </p:txBody>
      </p:sp>
      <p:sp>
        <p:nvSpPr>
          <p:cNvPr id="45" name="Oval 44"/>
          <p:cNvSpPr/>
          <p:nvPr/>
        </p:nvSpPr>
        <p:spPr>
          <a:xfrm>
            <a:off x="6327648" y="2103120"/>
            <a:ext cx="219456" cy="219456"/>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80176" y="2377440"/>
            <a:ext cx="914400" cy="228600"/>
          </a:xfrm>
          <a:prstGeom prst="rect">
            <a:avLst/>
          </a:prstGeom>
          <a:noFill/>
        </p:spPr>
        <p:txBody>
          <a:bodyPr wrap="square">
            <a:spAutoFit/>
          </a:bodyPr>
          <a:lstStyle/>
          <a:p>
            <a:pPr algn="ctr"/>
            <a:r>
              <a:rPr sz="900" b="1" i="0">
                <a:solidFill>
                  <a:srgbClr val="445566"/>
                </a:solidFill>
              </a:rPr>
              <a:t>2014 FDA</a:t>
            </a:r>
          </a:p>
        </p:txBody>
      </p:sp>
      <p:sp>
        <p:nvSpPr>
          <p:cNvPr id="47" name="TextBox 46"/>
          <p:cNvSpPr txBox="1"/>
          <p:nvPr/>
        </p:nvSpPr>
        <p:spPr>
          <a:xfrm>
            <a:off x="5614416" y="2606040"/>
            <a:ext cx="1645920" cy="411480"/>
          </a:xfrm>
          <a:prstGeom prst="rect">
            <a:avLst/>
          </a:prstGeom>
          <a:noFill/>
        </p:spPr>
        <p:txBody>
          <a:bodyPr wrap="square">
            <a:spAutoFit/>
          </a:bodyPr>
          <a:lstStyle/>
          <a:p>
            <a:pPr algn="ctr"/>
            <a:r>
              <a:rPr sz="900" b="1" i="0">
                <a:solidFill>
                  <a:srgbClr val="1A2E4A"/>
                </a:solidFill>
              </a:rPr>
              <a:t>Da Vinci Xi
2014</a:t>
            </a:r>
          </a:p>
        </p:txBody>
      </p:sp>
      <p:sp>
        <p:nvSpPr>
          <p:cNvPr id="48" name="TextBox 47"/>
          <p:cNvSpPr txBox="1"/>
          <p:nvPr/>
        </p:nvSpPr>
        <p:spPr>
          <a:xfrm>
            <a:off x="5614416" y="3017520"/>
            <a:ext cx="1645920" cy="411480"/>
          </a:xfrm>
          <a:prstGeom prst="rect">
            <a:avLst/>
          </a:prstGeom>
          <a:noFill/>
        </p:spPr>
        <p:txBody>
          <a:bodyPr wrap="square">
            <a:spAutoFit/>
          </a:bodyPr>
          <a:lstStyle/>
          <a:p>
            <a:pPr algn="ctr"/>
            <a:r>
              <a:rPr sz="800" b="0" i="0">
                <a:solidFill>
                  <a:srgbClr val="445566"/>
                </a:solidFill>
              </a:rPr>
              <a:t>多象限进入
荧光成像</a:t>
            </a:r>
          </a:p>
        </p:txBody>
      </p:sp>
      <p:sp>
        <p:nvSpPr>
          <p:cNvPr id="49" name="TextBox 48"/>
          <p:cNvSpPr txBox="1"/>
          <p:nvPr/>
        </p:nvSpPr>
        <p:spPr>
          <a:xfrm>
            <a:off x="5614416" y="3429000"/>
            <a:ext cx="1645920" cy="365760"/>
          </a:xfrm>
          <a:prstGeom prst="rect">
            <a:avLst/>
          </a:prstGeom>
          <a:noFill/>
        </p:spPr>
        <p:txBody>
          <a:bodyPr wrap="square">
            <a:spAutoFit/>
          </a:bodyPr>
          <a:lstStyle/>
          <a:p>
            <a:pPr algn="ctr"/>
            <a:r>
              <a:rPr sz="700" b="0" i="1">
                <a:solidFill>
                  <a:srgbClr val="007ACC"/>
                </a:solidFill>
              </a:rPr>
              <a:t>US9152836B2
560次引用</a:t>
            </a:r>
          </a:p>
        </p:txBody>
      </p:sp>
      <p:sp>
        <p:nvSpPr>
          <p:cNvPr id="50" name="Oval 49"/>
          <p:cNvSpPr/>
          <p:nvPr/>
        </p:nvSpPr>
        <p:spPr>
          <a:xfrm>
            <a:off x="8046720" y="2103120"/>
            <a:ext cx="219456" cy="219456"/>
          </a:xfrm>
          <a:prstGeom prst="ellipse">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9248" y="2377440"/>
            <a:ext cx="914400" cy="228600"/>
          </a:xfrm>
          <a:prstGeom prst="rect">
            <a:avLst/>
          </a:prstGeom>
          <a:noFill/>
        </p:spPr>
        <p:txBody>
          <a:bodyPr wrap="square">
            <a:spAutoFit/>
          </a:bodyPr>
          <a:lstStyle/>
          <a:p>
            <a:pPr algn="ctr"/>
            <a:r>
              <a:rPr sz="900" b="1" i="0">
                <a:solidFill>
                  <a:srgbClr val="002D6A"/>
                </a:solidFill>
              </a:rPr>
              <a:t>2024 FDA</a:t>
            </a:r>
          </a:p>
        </p:txBody>
      </p:sp>
      <p:sp>
        <p:nvSpPr>
          <p:cNvPr id="52" name="TextBox 51"/>
          <p:cNvSpPr txBox="1"/>
          <p:nvPr/>
        </p:nvSpPr>
        <p:spPr>
          <a:xfrm>
            <a:off x="7333488" y="2606040"/>
            <a:ext cx="1645920" cy="411480"/>
          </a:xfrm>
          <a:prstGeom prst="rect">
            <a:avLst/>
          </a:prstGeom>
          <a:noFill/>
        </p:spPr>
        <p:txBody>
          <a:bodyPr wrap="square">
            <a:spAutoFit/>
          </a:bodyPr>
          <a:lstStyle/>
          <a:p>
            <a:pPr algn="ctr"/>
            <a:r>
              <a:rPr sz="900" b="1" i="0">
                <a:solidFill>
                  <a:srgbClr val="002D6A"/>
                </a:solidFill>
              </a:rPr>
              <a:t>Da Vinci 5
2024</a:t>
            </a:r>
          </a:p>
        </p:txBody>
      </p:sp>
      <p:sp>
        <p:nvSpPr>
          <p:cNvPr id="53" name="TextBox 52"/>
          <p:cNvSpPr txBox="1"/>
          <p:nvPr/>
        </p:nvSpPr>
        <p:spPr>
          <a:xfrm>
            <a:off x="7333488" y="3017520"/>
            <a:ext cx="1645920" cy="411480"/>
          </a:xfrm>
          <a:prstGeom prst="rect">
            <a:avLst/>
          </a:prstGeom>
          <a:noFill/>
        </p:spPr>
        <p:txBody>
          <a:bodyPr wrap="square">
            <a:spAutoFit/>
          </a:bodyPr>
          <a:lstStyle/>
          <a:p>
            <a:pPr algn="ctr"/>
            <a:r>
              <a:rPr sz="800" b="0" i="0">
                <a:solidFill>
                  <a:srgbClr val="445566"/>
                </a:solidFill>
              </a:rPr>
              <a:t>力反馈传感
万倍算力+AI</a:t>
            </a:r>
          </a:p>
        </p:txBody>
      </p:sp>
      <p:sp>
        <p:nvSpPr>
          <p:cNvPr id="54" name="TextBox 53"/>
          <p:cNvSpPr txBox="1"/>
          <p:nvPr/>
        </p:nvSpPr>
        <p:spPr>
          <a:xfrm>
            <a:off x="7333488" y="3429000"/>
            <a:ext cx="1645920" cy="365760"/>
          </a:xfrm>
          <a:prstGeom prst="rect">
            <a:avLst/>
          </a:prstGeom>
          <a:noFill/>
        </p:spPr>
        <p:txBody>
          <a:bodyPr wrap="square">
            <a:spAutoFit/>
          </a:bodyPr>
          <a:lstStyle/>
          <a:p>
            <a:pPr algn="ctr"/>
            <a:r>
              <a:rPr sz="700" b="0" i="1">
                <a:solidFill>
                  <a:srgbClr val="007ACC"/>
                </a:solidFill>
              </a:rPr>
              <a:t>2024年新申请
多项核心专利</a:t>
            </a:r>
          </a:p>
        </p:txBody>
      </p:sp>
      <p:sp>
        <p:nvSpPr>
          <p:cNvPr id="55" name="TextBox 54"/>
          <p:cNvSpPr txBox="1"/>
          <p:nvPr/>
        </p:nvSpPr>
        <p:spPr>
          <a:xfrm>
            <a:off x="365760" y="3931920"/>
            <a:ext cx="8229600" cy="274320"/>
          </a:xfrm>
          <a:prstGeom prst="rect">
            <a:avLst/>
          </a:prstGeom>
          <a:noFill/>
        </p:spPr>
        <p:txBody>
          <a:bodyPr wrap="square">
            <a:spAutoFit/>
          </a:bodyPr>
          <a:lstStyle/>
          <a:p>
            <a:pPr algn="l"/>
            <a:r>
              <a:rPr sz="1200" b="1" i="0">
                <a:solidFill>
                  <a:srgbClr val="002D6A"/>
                </a:solidFill>
              </a:rPr>
              <a:t>Da Vinci 5 三大核心创新</a:t>
            </a:r>
          </a:p>
        </p:txBody>
      </p:sp>
      <p:sp>
        <p:nvSpPr>
          <p:cNvPr id="56" name="Rectangle 55"/>
          <p:cNvSpPr/>
          <p:nvPr/>
        </p:nvSpPr>
        <p:spPr>
          <a:xfrm>
            <a:off x="365760" y="4224528"/>
            <a:ext cx="2697480" cy="822960"/>
          </a:xfrm>
          <a:prstGeom prst="rect">
            <a:avLst/>
          </a:prstGeom>
          <a:solidFill>
            <a:srgbClr val="F5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5760" y="4224528"/>
            <a:ext cx="269748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51960"/>
            <a:ext cx="2514600" cy="256032"/>
          </a:xfrm>
          <a:prstGeom prst="rect">
            <a:avLst/>
          </a:prstGeom>
          <a:noFill/>
        </p:spPr>
        <p:txBody>
          <a:bodyPr wrap="square">
            <a:spAutoFit/>
          </a:bodyPr>
          <a:lstStyle/>
          <a:p>
            <a:pPr algn="l"/>
            <a:r>
              <a:rPr sz="1100" b="1" i="0">
                <a:solidFill>
                  <a:srgbClr val="007ACC"/>
                </a:solidFill>
              </a:rPr>
              <a:t>力反馈传感</a:t>
            </a:r>
          </a:p>
        </p:txBody>
      </p:sp>
      <p:sp>
        <p:nvSpPr>
          <p:cNvPr id="59" name="TextBox 58"/>
          <p:cNvSpPr txBox="1"/>
          <p:nvPr/>
        </p:nvSpPr>
        <p:spPr>
          <a:xfrm>
            <a:off x="457200" y="4507992"/>
            <a:ext cx="2514600" cy="502920"/>
          </a:xfrm>
          <a:prstGeom prst="rect">
            <a:avLst/>
          </a:prstGeom>
          <a:noFill/>
        </p:spPr>
        <p:txBody>
          <a:bodyPr wrap="square">
            <a:spAutoFit/>
          </a:bodyPr>
          <a:lstStyle/>
          <a:p>
            <a:pPr algn="l"/>
            <a:r>
              <a:rPr sz="850" b="0" i="0">
                <a:solidFill>
                  <a:srgbClr val="1A2E4A"/>
                </a:solidFill>
              </a:rPr>
              <a:t>全球首个FDA批准的内置力传感手术机器人，器械尖端实时测量力，外科医生通过手柄感知组织阻力，研究显示施力减少高达43%</a:t>
            </a:r>
          </a:p>
        </p:txBody>
      </p:sp>
      <p:sp>
        <p:nvSpPr>
          <p:cNvPr id="60" name="Rectangle 59"/>
          <p:cNvSpPr/>
          <p:nvPr/>
        </p:nvSpPr>
        <p:spPr>
          <a:xfrm>
            <a:off x="3200400" y="4224528"/>
            <a:ext cx="2697480" cy="822960"/>
          </a:xfrm>
          <a:prstGeom prst="rect">
            <a:avLst/>
          </a:prstGeom>
          <a:solidFill>
            <a:srgbClr val="F5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200400" y="4224528"/>
            <a:ext cx="2697480" cy="54864"/>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91840" y="4251960"/>
            <a:ext cx="2514600" cy="256032"/>
          </a:xfrm>
          <a:prstGeom prst="rect">
            <a:avLst/>
          </a:prstGeom>
          <a:noFill/>
        </p:spPr>
        <p:txBody>
          <a:bodyPr wrap="square">
            <a:spAutoFit/>
          </a:bodyPr>
          <a:lstStyle/>
          <a:p>
            <a:pPr algn="l"/>
            <a:r>
              <a:rPr sz="1100" b="1" i="0">
                <a:solidFill>
                  <a:srgbClr val="00B0A0"/>
                </a:solidFill>
              </a:rPr>
              <a:t>万倍算力</a:t>
            </a:r>
          </a:p>
        </p:txBody>
      </p:sp>
      <p:sp>
        <p:nvSpPr>
          <p:cNvPr id="63" name="TextBox 62"/>
          <p:cNvSpPr txBox="1"/>
          <p:nvPr/>
        </p:nvSpPr>
        <p:spPr>
          <a:xfrm>
            <a:off x="3291840" y="4507992"/>
            <a:ext cx="2514600" cy="502920"/>
          </a:xfrm>
          <a:prstGeom prst="rect">
            <a:avLst/>
          </a:prstGeom>
          <a:noFill/>
        </p:spPr>
        <p:txBody>
          <a:bodyPr wrap="square">
            <a:spAutoFit/>
          </a:bodyPr>
          <a:lstStyle/>
          <a:p>
            <a:pPr algn="l"/>
            <a:r>
              <a:rPr sz="850" b="0" i="0">
                <a:solidFill>
                  <a:srgbClr val="1A2E4A"/>
                </a:solidFill>
              </a:rPr>
              <a:t>与NVIDIA合作，基于Blackwell平台，计算能力提升10,000倍，支持实时AI推理、Case Insights、术前3D规划</a:t>
            </a:r>
          </a:p>
        </p:txBody>
      </p:sp>
      <p:sp>
        <p:nvSpPr>
          <p:cNvPr id="64" name="Rectangle 63"/>
          <p:cNvSpPr/>
          <p:nvPr/>
        </p:nvSpPr>
        <p:spPr>
          <a:xfrm>
            <a:off x="6035040" y="4224528"/>
            <a:ext cx="2697480" cy="822960"/>
          </a:xfrm>
          <a:prstGeom prst="rect">
            <a:avLst/>
          </a:prstGeom>
          <a:solidFill>
            <a:srgbClr val="F5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035040" y="4224528"/>
            <a:ext cx="2697480" cy="54864"/>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26480" y="4251960"/>
            <a:ext cx="2514600" cy="256032"/>
          </a:xfrm>
          <a:prstGeom prst="rect">
            <a:avLst/>
          </a:prstGeom>
          <a:noFill/>
        </p:spPr>
        <p:txBody>
          <a:bodyPr wrap="square">
            <a:spAutoFit/>
          </a:bodyPr>
          <a:lstStyle/>
          <a:p>
            <a:pPr algn="l"/>
            <a:r>
              <a:rPr sz="1100" b="1" i="0">
                <a:solidFill>
                  <a:srgbClr val="6A0D9B"/>
                </a:solidFill>
              </a:rPr>
              <a:t>AI手术洞察</a:t>
            </a:r>
          </a:p>
        </p:txBody>
      </p:sp>
      <p:sp>
        <p:nvSpPr>
          <p:cNvPr id="67" name="TextBox 66"/>
          <p:cNvSpPr txBox="1"/>
          <p:nvPr/>
        </p:nvSpPr>
        <p:spPr>
          <a:xfrm>
            <a:off x="6126480" y="4507992"/>
            <a:ext cx="2514600" cy="502920"/>
          </a:xfrm>
          <a:prstGeom prst="rect">
            <a:avLst/>
          </a:prstGeom>
          <a:noFill/>
        </p:spPr>
        <p:txBody>
          <a:bodyPr wrap="square">
            <a:spAutoFit/>
          </a:bodyPr>
          <a:lstStyle/>
          <a:p>
            <a:pPr algn="l"/>
            <a:r>
              <a:rPr sz="850" b="0" i="0">
                <a:solidFill>
                  <a:srgbClr val="1A2E4A"/>
                </a:solidFill>
              </a:rPr>
              <a:t>Case Insights平台整合视频+遥测+运动学数据，机器学习分割手术阶段，提供术后客观性能指标，支持手术回放与数字教练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04  力反馈传感系统专利  Force Feedback Patents</a:t>
            </a:r>
          </a:p>
        </p:txBody>
      </p:sp>
      <p:sp>
        <p:nvSpPr>
          <p:cNvPr id="4" name="TextBox 3"/>
          <p:cNvSpPr txBox="1"/>
          <p:nvPr/>
        </p:nvSpPr>
        <p:spPr>
          <a:xfrm>
            <a:off x="365760" y="502920"/>
            <a:ext cx="8412480" cy="274320"/>
          </a:xfrm>
          <a:prstGeom prst="rect">
            <a:avLst/>
          </a:prstGeom>
          <a:noFill/>
        </p:spPr>
        <p:txBody>
          <a:bodyPr wrap="square">
            <a:spAutoFit/>
          </a:bodyPr>
          <a:lstStyle/>
          <a:p>
            <a:pPr algn="l"/>
            <a:r>
              <a:rPr sz="1000" b="0" i="0">
                <a:solidFill>
                  <a:srgbClr val="AACCFF"/>
                </a:solidFill>
              </a:rPr>
              <a:t>Da Vinci 5 核心创新：全球首个 FDA 批准的器械内置力感知手术机器人系统</a:t>
            </a:r>
          </a:p>
        </p:txBody>
      </p:sp>
      <p:sp>
        <p:nvSpPr>
          <p:cNvPr id="5" name="Rectangle 4"/>
          <p:cNvSpPr/>
          <p:nvPr/>
        </p:nvSpPr>
        <p:spPr>
          <a:xfrm>
            <a:off x="365760" y="960120"/>
            <a:ext cx="8412480" cy="59436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 cy="59436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8183879" cy="548640"/>
          </a:xfrm>
          <a:prstGeom prst="rect">
            <a:avLst/>
          </a:prstGeom>
          <a:noFill/>
        </p:spPr>
        <p:txBody>
          <a:bodyPr wrap="square">
            <a:spAutoFit/>
          </a:bodyPr>
          <a:lstStyle/>
          <a:p>
            <a:pPr algn="l"/>
            <a:r>
              <a:rPr sz="950" b="0" i="0">
                <a:solidFill>
                  <a:srgbClr val="1A2E4A"/>
                </a:solidFill>
              </a:rPr>
              <a:t>技术原理：达芬奇5的力反馈技术不同于传统振动模拟（震颤反馈），传感器直接检测器械末端对组织的实际作用力，经算法过滤后实时传递给外科医生手柄，实现真正的触觉感知，是直觉外科20年技术积累的结晶。</a:t>
            </a:r>
          </a:p>
        </p:txBody>
      </p:sp>
      <p:sp>
        <p:nvSpPr>
          <p:cNvPr id="8" name="Rectangle 7"/>
          <p:cNvSpPr/>
          <p:nvPr/>
        </p:nvSpPr>
        <p:spPr>
          <a:xfrm>
            <a:off x="365760" y="1645920"/>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45920"/>
            <a:ext cx="141732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682496"/>
            <a:ext cx="1371600" cy="228600"/>
          </a:xfrm>
          <a:prstGeom prst="rect">
            <a:avLst/>
          </a:prstGeom>
          <a:noFill/>
        </p:spPr>
        <p:txBody>
          <a:bodyPr wrap="square">
            <a:spAutoFit/>
          </a:bodyPr>
          <a:lstStyle/>
          <a:p>
            <a:pPr algn="l"/>
            <a:r>
              <a:rPr sz="900" b="1" i="0">
                <a:solidFill>
                  <a:srgbClr val="FFFFFF"/>
                </a:solidFill>
              </a:rPr>
              <a:t>力反馈 / 传感技术</a:t>
            </a:r>
          </a:p>
        </p:txBody>
      </p:sp>
      <p:sp>
        <p:nvSpPr>
          <p:cNvPr id="11" name="TextBox 10"/>
          <p:cNvSpPr txBox="1"/>
          <p:nvPr/>
        </p:nvSpPr>
        <p:spPr>
          <a:xfrm>
            <a:off x="1920240" y="1673352"/>
            <a:ext cx="2743200" cy="237744"/>
          </a:xfrm>
          <a:prstGeom prst="rect">
            <a:avLst/>
          </a:prstGeom>
          <a:noFill/>
        </p:spPr>
        <p:txBody>
          <a:bodyPr wrap="square">
            <a:spAutoFit/>
          </a:bodyPr>
          <a:lstStyle/>
          <a:p>
            <a:pPr algn="l"/>
            <a:r>
              <a:rPr sz="1200" b="1" i="0">
                <a:solidFill>
                  <a:srgbClr val="002D6A"/>
                </a:solidFill>
              </a:rPr>
              <a:t>US20240122123A1</a:t>
            </a:r>
          </a:p>
        </p:txBody>
      </p:sp>
      <p:sp>
        <p:nvSpPr>
          <p:cNvPr id="12" name="Rectangle 11"/>
          <p:cNvSpPr/>
          <p:nvPr/>
        </p:nvSpPr>
        <p:spPr>
          <a:xfrm>
            <a:off x="4754880" y="1682496"/>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691640"/>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14" name="TextBox 13"/>
          <p:cNvSpPr txBox="1"/>
          <p:nvPr/>
        </p:nvSpPr>
        <p:spPr>
          <a:xfrm>
            <a:off x="1920240" y="1901952"/>
            <a:ext cx="6766560" cy="228600"/>
          </a:xfrm>
          <a:prstGeom prst="rect">
            <a:avLst/>
          </a:prstGeom>
          <a:noFill/>
        </p:spPr>
        <p:txBody>
          <a:bodyPr wrap="square">
            <a:spAutoFit/>
          </a:bodyPr>
          <a:lstStyle/>
          <a:p>
            <a:pPr algn="l"/>
            <a:r>
              <a:rPr sz="1000" b="1" i="0">
                <a:solidFill>
                  <a:srgbClr val="1A2E4A"/>
                </a:solidFill>
              </a:rPr>
              <a:t>Force Sensing Surgical Instrument with Multi-Axis Feedback</a:t>
            </a:r>
          </a:p>
        </p:txBody>
      </p:sp>
      <p:sp>
        <p:nvSpPr>
          <p:cNvPr id="15" name="TextBox 14"/>
          <p:cNvSpPr txBox="1"/>
          <p:nvPr/>
        </p:nvSpPr>
        <p:spPr>
          <a:xfrm>
            <a:off x="457200" y="2148840"/>
            <a:ext cx="8229600" cy="365760"/>
          </a:xfrm>
          <a:prstGeom prst="rect">
            <a:avLst/>
          </a:prstGeom>
          <a:noFill/>
        </p:spPr>
        <p:txBody>
          <a:bodyPr wrap="square">
            <a:spAutoFit/>
          </a:bodyPr>
          <a:lstStyle/>
          <a:p>
            <a:pPr algn="l"/>
            <a:r>
              <a:rPr sz="800" b="0" i="0">
                <a:solidFill>
                  <a:srgbClr val="445566"/>
                </a:solidFill>
              </a:rPr>
              <a:t>一种手术器械端部多轴力传感装置及方法，包含器械轴内的光纤或应变计传感器阵列，可测量器械末端在X/Y/Z三轴方向的力分量及扭矩，通过信号处理单元滤除机械臂运动伪影，输出精确的接触力向量，实时传输至操控台主手控制器实现力反馈。</a:t>
            </a:r>
          </a:p>
        </p:txBody>
      </p:sp>
      <p:sp>
        <p:nvSpPr>
          <p:cNvPr id="16" name="TextBox 15"/>
          <p:cNvSpPr txBox="1"/>
          <p:nvPr/>
        </p:nvSpPr>
        <p:spPr>
          <a:xfrm>
            <a:off x="457200" y="2487168"/>
            <a:ext cx="4023360" cy="164592"/>
          </a:xfrm>
          <a:prstGeom prst="rect">
            <a:avLst/>
          </a:prstGeom>
          <a:noFill/>
        </p:spPr>
        <p:txBody>
          <a:bodyPr wrap="square">
            <a:spAutoFit/>
          </a:bodyPr>
          <a:lstStyle/>
          <a:p>
            <a:pPr algn="l"/>
            <a:r>
              <a:rPr sz="750" b="0" i="0">
                <a:solidFill>
                  <a:srgbClr val="1A2E4A"/>
                </a:solidFill>
              </a:rPr>
              <a:t>• 一种手术器械端部的多轴力传感器封装结构</a:t>
            </a:r>
          </a:p>
        </p:txBody>
      </p:sp>
      <p:sp>
        <p:nvSpPr>
          <p:cNvPr id="17" name="TextBox 16"/>
          <p:cNvSpPr txBox="1"/>
          <p:nvPr/>
        </p:nvSpPr>
        <p:spPr>
          <a:xfrm>
            <a:off x="4572000" y="2487168"/>
            <a:ext cx="4023360" cy="164592"/>
          </a:xfrm>
          <a:prstGeom prst="rect">
            <a:avLst/>
          </a:prstGeom>
          <a:noFill/>
        </p:spPr>
        <p:txBody>
          <a:bodyPr wrap="square">
            <a:spAutoFit/>
          </a:bodyPr>
          <a:lstStyle/>
          <a:p>
            <a:pPr algn="l"/>
            <a:r>
              <a:rPr sz="750" b="0" i="0">
                <a:solidFill>
                  <a:srgbClr val="1A2E4A"/>
                </a:solidFill>
              </a:rPr>
              <a:t>• 一种滤除器械运动伪影的信号处理算法</a:t>
            </a:r>
          </a:p>
        </p:txBody>
      </p:sp>
      <p:sp>
        <p:nvSpPr>
          <p:cNvPr id="18" name="Rectangle 17"/>
          <p:cNvSpPr/>
          <p:nvPr/>
        </p:nvSpPr>
        <p:spPr>
          <a:xfrm>
            <a:off x="365760" y="2761488"/>
            <a:ext cx="84124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61488"/>
            <a:ext cx="1417320" cy="29260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2798064"/>
            <a:ext cx="1371600" cy="228600"/>
          </a:xfrm>
          <a:prstGeom prst="rect">
            <a:avLst/>
          </a:prstGeom>
          <a:noFill/>
        </p:spPr>
        <p:txBody>
          <a:bodyPr wrap="square">
            <a:spAutoFit/>
          </a:bodyPr>
          <a:lstStyle/>
          <a:p>
            <a:pPr algn="l"/>
            <a:r>
              <a:rPr sz="900" b="1" i="0">
                <a:solidFill>
                  <a:srgbClr val="FFFFFF"/>
                </a:solidFill>
              </a:rPr>
              <a:t>触觉反馈 / 控制</a:t>
            </a:r>
          </a:p>
        </p:txBody>
      </p:sp>
      <p:sp>
        <p:nvSpPr>
          <p:cNvPr id="21" name="TextBox 20"/>
          <p:cNvSpPr txBox="1"/>
          <p:nvPr/>
        </p:nvSpPr>
        <p:spPr>
          <a:xfrm>
            <a:off x="1920240" y="2788920"/>
            <a:ext cx="2743200" cy="237744"/>
          </a:xfrm>
          <a:prstGeom prst="rect">
            <a:avLst/>
          </a:prstGeom>
          <a:noFill/>
        </p:spPr>
        <p:txBody>
          <a:bodyPr wrap="square">
            <a:spAutoFit/>
          </a:bodyPr>
          <a:lstStyle/>
          <a:p>
            <a:pPr algn="l"/>
            <a:r>
              <a:rPr sz="1200" b="1" i="0">
                <a:solidFill>
                  <a:srgbClr val="002D6A"/>
                </a:solidFill>
              </a:rPr>
              <a:t>US20240277256A1</a:t>
            </a:r>
          </a:p>
        </p:txBody>
      </p:sp>
      <p:sp>
        <p:nvSpPr>
          <p:cNvPr id="22" name="Rectangle 21"/>
          <p:cNvSpPr/>
          <p:nvPr/>
        </p:nvSpPr>
        <p:spPr>
          <a:xfrm>
            <a:off x="4754880" y="2798064"/>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2807208"/>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24" name="TextBox 23"/>
          <p:cNvSpPr txBox="1"/>
          <p:nvPr/>
        </p:nvSpPr>
        <p:spPr>
          <a:xfrm>
            <a:off x="1920240" y="3017520"/>
            <a:ext cx="6766560" cy="228600"/>
          </a:xfrm>
          <a:prstGeom prst="rect">
            <a:avLst/>
          </a:prstGeom>
          <a:noFill/>
        </p:spPr>
        <p:txBody>
          <a:bodyPr wrap="square">
            <a:spAutoFit/>
          </a:bodyPr>
          <a:lstStyle/>
          <a:p>
            <a:pPr algn="l"/>
            <a:r>
              <a:rPr sz="1000" b="1" i="0">
                <a:solidFill>
                  <a:srgbClr val="1A2E4A"/>
                </a:solidFill>
              </a:rPr>
              <a:t>Haptic Feedback Control System for Robotic Surgical Instruments</a:t>
            </a:r>
          </a:p>
        </p:txBody>
      </p:sp>
      <p:sp>
        <p:nvSpPr>
          <p:cNvPr id="25" name="TextBox 24"/>
          <p:cNvSpPr txBox="1"/>
          <p:nvPr/>
        </p:nvSpPr>
        <p:spPr>
          <a:xfrm>
            <a:off x="457200" y="3264408"/>
            <a:ext cx="8229600" cy="365760"/>
          </a:xfrm>
          <a:prstGeom prst="rect">
            <a:avLst/>
          </a:prstGeom>
          <a:noFill/>
        </p:spPr>
        <p:txBody>
          <a:bodyPr wrap="square">
            <a:spAutoFit/>
          </a:bodyPr>
          <a:lstStyle/>
          <a:p>
            <a:pPr algn="l"/>
            <a:r>
              <a:rPr sz="800" b="0" i="0">
                <a:solidFill>
                  <a:srgbClr val="445566"/>
                </a:solidFill>
              </a:rPr>
              <a:t>一种机器人手术系统的触觉反馈控制系统及方法，通过在器械与组织接触时测量力信号，将其编码为触觉反馈信号反馈给外科医生；系统可调节反馈强度（低/中/高三档），并可根据组织类型自适应调节反馈参数，以匹配不同组织的力学特性。</a:t>
            </a:r>
          </a:p>
        </p:txBody>
      </p:sp>
      <p:sp>
        <p:nvSpPr>
          <p:cNvPr id="26" name="TextBox 25"/>
          <p:cNvSpPr txBox="1"/>
          <p:nvPr/>
        </p:nvSpPr>
        <p:spPr>
          <a:xfrm>
            <a:off x="457200" y="3602736"/>
            <a:ext cx="4023360" cy="164592"/>
          </a:xfrm>
          <a:prstGeom prst="rect">
            <a:avLst/>
          </a:prstGeom>
          <a:noFill/>
        </p:spPr>
        <p:txBody>
          <a:bodyPr wrap="square">
            <a:spAutoFit/>
          </a:bodyPr>
          <a:lstStyle/>
          <a:p>
            <a:pPr algn="l"/>
            <a:r>
              <a:rPr sz="750" b="0" i="0">
                <a:solidFill>
                  <a:srgbClr val="1A2E4A"/>
                </a:solidFill>
              </a:rPr>
              <a:t>• 一种可调节触觉反馈强度的控制系统架构</a:t>
            </a:r>
          </a:p>
        </p:txBody>
      </p:sp>
      <p:sp>
        <p:nvSpPr>
          <p:cNvPr id="27" name="TextBox 26"/>
          <p:cNvSpPr txBox="1"/>
          <p:nvPr/>
        </p:nvSpPr>
        <p:spPr>
          <a:xfrm>
            <a:off x="4572000" y="3602736"/>
            <a:ext cx="4023360" cy="164592"/>
          </a:xfrm>
          <a:prstGeom prst="rect">
            <a:avLst/>
          </a:prstGeom>
          <a:noFill/>
        </p:spPr>
        <p:txBody>
          <a:bodyPr wrap="square">
            <a:spAutoFit/>
          </a:bodyPr>
          <a:lstStyle/>
          <a:p>
            <a:pPr algn="l"/>
            <a:r>
              <a:rPr sz="750" b="0" i="0">
                <a:solidFill>
                  <a:srgbClr val="1A2E4A"/>
                </a:solidFill>
              </a:rPr>
              <a:t>• 一种基于组织类型自适应调节反馈参数的方法</a:t>
            </a:r>
          </a:p>
        </p:txBody>
      </p:sp>
      <p:sp>
        <p:nvSpPr>
          <p:cNvPr id="28" name="Rectangle 27"/>
          <p:cNvSpPr/>
          <p:nvPr/>
        </p:nvSpPr>
        <p:spPr>
          <a:xfrm>
            <a:off x="365760" y="3877056"/>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77056"/>
            <a:ext cx="1417320" cy="292608"/>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913632"/>
            <a:ext cx="1371600" cy="228600"/>
          </a:xfrm>
          <a:prstGeom prst="rect">
            <a:avLst/>
          </a:prstGeom>
          <a:noFill/>
        </p:spPr>
        <p:txBody>
          <a:bodyPr wrap="square">
            <a:spAutoFit/>
          </a:bodyPr>
          <a:lstStyle/>
          <a:p>
            <a:pPr algn="l"/>
            <a:r>
              <a:rPr sz="900" b="1" i="0">
                <a:solidFill>
                  <a:srgbClr val="FFFFFF"/>
                </a:solidFill>
              </a:rPr>
              <a:t>校准 / 精度保证</a:t>
            </a:r>
          </a:p>
        </p:txBody>
      </p:sp>
      <p:sp>
        <p:nvSpPr>
          <p:cNvPr id="31" name="TextBox 30"/>
          <p:cNvSpPr txBox="1"/>
          <p:nvPr/>
        </p:nvSpPr>
        <p:spPr>
          <a:xfrm>
            <a:off x="1920240" y="3904488"/>
            <a:ext cx="2743200" cy="237744"/>
          </a:xfrm>
          <a:prstGeom prst="rect">
            <a:avLst/>
          </a:prstGeom>
          <a:noFill/>
        </p:spPr>
        <p:txBody>
          <a:bodyPr wrap="square">
            <a:spAutoFit/>
          </a:bodyPr>
          <a:lstStyle/>
          <a:p>
            <a:pPr algn="l"/>
            <a:r>
              <a:rPr sz="1200" b="1" i="0">
                <a:solidFill>
                  <a:srgbClr val="002D6A"/>
                </a:solidFill>
              </a:rPr>
              <a:t>US20240315567A1</a:t>
            </a:r>
          </a:p>
        </p:txBody>
      </p:sp>
      <p:sp>
        <p:nvSpPr>
          <p:cNvPr id="32" name="Rectangle 31"/>
          <p:cNvSpPr/>
          <p:nvPr/>
        </p:nvSpPr>
        <p:spPr>
          <a:xfrm>
            <a:off x="4754880" y="3913632"/>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922776"/>
            <a:ext cx="1417320" cy="201168"/>
          </a:xfrm>
          <a:prstGeom prst="rect">
            <a:avLst/>
          </a:prstGeom>
          <a:noFill/>
        </p:spPr>
        <p:txBody>
          <a:bodyPr wrap="square">
            <a:spAutoFit/>
          </a:bodyPr>
          <a:lstStyle/>
          <a:p>
            <a:pPr algn="ctr"/>
            <a:r>
              <a:rPr sz="800" b="1" i="0">
                <a:solidFill>
                  <a:srgbClr val="FFFFFF"/>
                </a:solidFill>
              </a:rPr>
              <a:t>申请中（Pending）</a:t>
            </a:r>
          </a:p>
        </p:txBody>
      </p:sp>
      <p:sp>
        <p:nvSpPr>
          <p:cNvPr id="34" name="TextBox 33"/>
          <p:cNvSpPr txBox="1"/>
          <p:nvPr/>
        </p:nvSpPr>
        <p:spPr>
          <a:xfrm>
            <a:off x="1920240" y="4133088"/>
            <a:ext cx="6766560" cy="228600"/>
          </a:xfrm>
          <a:prstGeom prst="rect">
            <a:avLst/>
          </a:prstGeom>
          <a:noFill/>
        </p:spPr>
        <p:txBody>
          <a:bodyPr wrap="square">
            <a:spAutoFit/>
          </a:bodyPr>
          <a:lstStyle/>
          <a:p>
            <a:pPr algn="l"/>
            <a:r>
              <a:rPr sz="1000" b="1" i="0">
                <a:solidFill>
                  <a:srgbClr val="1A2E4A"/>
                </a:solidFill>
              </a:rPr>
              <a:t>Calibration Method for Force Sensors in Surgical Robotic Instruments</a:t>
            </a:r>
          </a:p>
        </p:txBody>
      </p:sp>
      <p:sp>
        <p:nvSpPr>
          <p:cNvPr id="35" name="TextBox 34"/>
          <p:cNvSpPr txBox="1"/>
          <p:nvPr/>
        </p:nvSpPr>
        <p:spPr>
          <a:xfrm>
            <a:off x="457200" y="4379976"/>
            <a:ext cx="8229600" cy="365760"/>
          </a:xfrm>
          <a:prstGeom prst="rect">
            <a:avLst/>
          </a:prstGeom>
          <a:noFill/>
        </p:spPr>
        <p:txBody>
          <a:bodyPr wrap="square">
            <a:spAutoFit/>
          </a:bodyPr>
          <a:lstStyle/>
          <a:p>
            <a:pPr algn="l"/>
            <a:r>
              <a:rPr sz="800" b="0" i="0">
                <a:solidFill>
                  <a:srgbClr val="445566"/>
                </a:solidFill>
              </a:rPr>
              <a:t>一种机器人手术器械内置力传感器的校准方法，解决传感器在高温灭菌（高压蒸汽灭菌/ETO）后漂移的难题；通过在器械每次安装时执行自动归零校准程序，并记录传感器的温漂补偿系数，确保手术过程中力测量精度维持在±0.05N 以内，满足临床要求。</a:t>
            </a:r>
          </a:p>
        </p:txBody>
      </p:sp>
      <p:sp>
        <p:nvSpPr>
          <p:cNvPr id="36" name="TextBox 35"/>
          <p:cNvSpPr txBox="1"/>
          <p:nvPr/>
        </p:nvSpPr>
        <p:spPr>
          <a:xfrm>
            <a:off x="457200" y="4718304"/>
            <a:ext cx="4023360" cy="164592"/>
          </a:xfrm>
          <a:prstGeom prst="rect">
            <a:avLst/>
          </a:prstGeom>
          <a:noFill/>
        </p:spPr>
        <p:txBody>
          <a:bodyPr wrap="square">
            <a:spAutoFit/>
          </a:bodyPr>
          <a:lstStyle/>
          <a:p>
            <a:pPr algn="l"/>
            <a:r>
              <a:rPr sz="750" b="0" i="0">
                <a:solidFill>
                  <a:srgbClr val="1A2E4A"/>
                </a:solidFill>
              </a:rPr>
              <a:t>• 一种手术器械力传感器的自动归零校准方法</a:t>
            </a:r>
          </a:p>
        </p:txBody>
      </p:sp>
      <p:sp>
        <p:nvSpPr>
          <p:cNvPr id="37" name="TextBox 36"/>
          <p:cNvSpPr txBox="1"/>
          <p:nvPr/>
        </p:nvSpPr>
        <p:spPr>
          <a:xfrm>
            <a:off x="4572000" y="4718304"/>
            <a:ext cx="4023360" cy="164592"/>
          </a:xfrm>
          <a:prstGeom prst="rect">
            <a:avLst/>
          </a:prstGeom>
          <a:noFill/>
        </p:spPr>
        <p:txBody>
          <a:bodyPr wrap="square">
            <a:spAutoFit/>
          </a:bodyPr>
          <a:lstStyle/>
          <a:p>
            <a:pPr algn="l"/>
            <a:r>
              <a:rPr sz="750" b="0" i="0">
                <a:solidFill>
                  <a:srgbClr val="1A2E4A"/>
                </a:solidFill>
              </a:rPr>
              <a:t>• 一种基于温漂补偿的力传感器精度维持方法</a:t>
            </a:r>
          </a:p>
        </p:txBody>
      </p:sp>
      <p:sp>
        <p:nvSpPr>
          <p:cNvPr id="38" name="Rectangle 37"/>
          <p:cNvSpPr/>
          <p:nvPr/>
        </p:nvSpPr>
        <p:spPr>
          <a:xfrm>
            <a:off x="365760" y="5047488"/>
            <a:ext cx="841248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074920"/>
            <a:ext cx="8412480" cy="274320"/>
          </a:xfrm>
          <a:prstGeom prst="rect">
            <a:avLst/>
          </a:prstGeom>
          <a:noFill/>
        </p:spPr>
        <p:txBody>
          <a:bodyPr wrap="square">
            <a:spAutoFit/>
          </a:bodyPr>
          <a:lstStyle/>
          <a:p>
            <a:pPr algn="l"/>
            <a:r>
              <a:rPr sz="750" b="0" i="1">
                <a:solidFill>
                  <a:srgbClr val="445566"/>
                </a:solidFill>
              </a:rPr>
              <a:t>注：专利号来源于 USPTO/WIPO 公开数据库检索，基于 Da Vinci 5 力反馈功能技术特征反向推断，具体以 USPTO官网 记载为准。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05  3D 成像与视觉系统专利  Imaging &amp; Vision Patents</a:t>
            </a:r>
          </a:p>
        </p:txBody>
      </p:sp>
      <p:sp>
        <p:nvSpPr>
          <p:cNvPr id="4" name="TextBox 3"/>
          <p:cNvSpPr txBox="1"/>
          <p:nvPr/>
        </p:nvSpPr>
        <p:spPr>
          <a:xfrm>
            <a:off x="365760" y="502920"/>
            <a:ext cx="8412480" cy="274320"/>
          </a:xfrm>
          <a:prstGeom prst="rect">
            <a:avLst/>
          </a:prstGeom>
          <a:noFill/>
        </p:spPr>
        <p:txBody>
          <a:bodyPr wrap="square">
            <a:spAutoFit/>
          </a:bodyPr>
          <a:lstStyle/>
          <a:p>
            <a:pPr algn="l"/>
            <a:r>
              <a:rPr sz="1000" b="0" i="0">
                <a:solidFill>
                  <a:srgbClr val="AACCFF"/>
                </a:solidFill>
              </a:rPr>
              <a:t>Da Vinci 5 亮点：4K 3D 立体视觉 + 超低延迟图像处理 + 荧光显像增强</a:t>
            </a:r>
          </a:p>
        </p:txBody>
      </p:sp>
      <p:sp>
        <p:nvSpPr>
          <p:cNvPr id="5" name="Rectangle 4"/>
          <p:cNvSpPr/>
          <p:nvPr/>
        </p:nvSpPr>
        <p:spPr>
          <a:xfrm>
            <a:off x="365760" y="960120"/>
            <a:ext cx="8412480" cy="54864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 cy="548640"/>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8183879" cy="502920"/>
          </a:xfrm>
          <a:prstGeom prst="rect">
            <a:avLst/>
          </a:prstGeom>
          <a:noFill/>
        </p:spPr>
        <p:txBody>
          <a:bodyPr wrap="square">
            <a:spAutoFit/>
          </a:bodyPr>
          <a:lstStyle/>
          <a:p>
            <a:pPr algn="l"/>
            <a:r>
              <a:rPr sz="950" b="0" i="0">
                <a:solidFill>
                  <a:srgbClr val="1A2E4A"/>
                </a:solidFill>
              </a:rPr>
              <a:t>技术背景：达芬奇系列历来以卓越的3D视觉系统著称，Da Vinci 5 在此基础上大幅提升图像处理算力，支持实时术中图像增强、超分辨率重建以及ICG荧光融合成像，为外科医生提供更接近自然的术野感知。</a:t>
            </a:r>
          </a:p>
        </p:txBody>
      </p:sp>
      <p:sp>
        <p:nvSpPr>
          <p:cNvPr id="8" name="Rectangle 7"/>
          <p:cNvSpPr/>
          <p:nvPr/>
        </p:nvSpPr>
        <p:spPr>
          <a:xfrm>
            <a:off x="365760" y="1600200"/>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00200"/>
            <a:ext cx="1417320" cy="29260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636776"/>
            <a:ext cx="1371600" cy="228600"/>
          </a:xfrm>
          <a:prstGeom prst="rect">
            <a:avLst/>
          </a:prstGeom>
          <a:noFill/>
        </p:spPr>
        <p:txBody>
          <a:bodyPr wrap="square">
            <a:spAutoFit/>
          </a:bodyPr>
          <a:lstStyle/>
          <a:p>
            <a:pPr algn="l"/>
            <a:r>
              <a:rPr sz="900" b="1" i="0">
                <a:solidFill>
                  <a:srgbClr val="FFFFFF"/>
                </a:solidFill>
              </a:rPr>
              <a:t>3D 图像处理</a:t>
            </a:r>
          </a:p>
        </p:txBody>
      </p:sp>
      <p:sp>
        <p:nvSpPr>
          <p:cNvPr id="11" name="TextBox 10"/>
          <p:cNvSpPr txBox="1"/>
          <p:nvPr/>
        </p:nvSpPr>
        <p:spPr>
          <a:xfrm>
            <a:off x="1920240" y="1627632"/>
            <a:ext cx="2743200" cy="237744"/>
          </a:xfrm>
          <a:prstGeom prst="rect">
            <a:avLst/>
          </a:prstGeom>
          <a:noFill/>
        </p:spPr>
        <p:txBody>
          <a:bodyPr wrap="square">
            <a:spAutoFit/>
          </a:bodyPr>
          <a:lstStyle/>
          <a:p>
            <a:pPr algn="l"/>
            <a:r>
              <a:rPr sz="1200" b="1" i="0">
                <a:solidFill>
                  <a:srgbClr val="002D6A"/>
                </a:solidFill>
              </a:rPr>
              <a:t>US20240165538A1</a:t>
            </a:r>
          </a:p>
        </p:txBody>
      </p:sp>
      <p:sp>
        <p:nvSpPr>
          <p:cNvPr id="12" name="Rectangle 11"/>
          <p:cNvSpPr/>
          <p:nvPr/>
        </p:nvSpPr>
        <p:spPr>
          <a:xfrm>
            <a:off x="4754880" y="1636776"/>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645920"/>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14" name="TextBox 13"/>
          <p:cNvSpPr txBox="1"/>
          <p:nvPr/>
        </p:nvSpPr>
        <p:spPr>
          <a:xfrm>
            <a:off x="1920240" y="1856232"/>
            <a:ext cx="6766560" cy="228600"/>
          </a:xfrm>
          <a:prstGeom prst="rect">
            <a:avLst/>
          </a:prstGeom>
          <a:noFill/>
        </p:spPr>
        <p:txBody>
          <a:bodyPr wrap="square">
            <a:spAutoFit/>
          </a:bodyPr>
          <a:lstStyle/>
          <a:p>
            <a:pPr algn="l"/>
            <a:r>
              <a:rPr sz="1000" b="1" i="0">
                <a:solidFill>
                  <a:srgbClr val="1A2E4A"/>
                </a:solidFill>
              </a:rPr>
              <a:t>Adaptive 3D Image Processing for Minimally Invasive Surgical Systems</a:t>
            </a:r>
          </a:p>
        </p:txBody>
      </p:sp>
      <p:sp>
        <p:nvSpPr>
          <p:cNvPr id="15" name="TextBox 14"/>
          <p:cNvSpPr txBox="1"/>
          <p:nvPr/>
        </p:nvSpPr>
        <p:spPr>
          <a:xfrm>
            <a:off x="457200" y="2103120"/>
            <a:ext cx="8229600" cy="365760"/>
          </a:xfrm>
          <a:prstGeom prst="rect">
            <a:avLst/>
          </a:prstGeom>
          <a:noFill/>
        </p:spPr>
        <p:txBody>
          <a:bodyPr wrap="square">
            <a:spAutoFit/>
          </a:bodyPr>
          <a:lstStyle/>
          <a:p>
            <a:pPr algn="l"/>
            <a:r>
              <a:rPr sz="800" b="0" i="0">
                <a:solidFill>
                  <a:srgbClr val="445566"/>
                </a:solidFill>
              </a:rPr>
              <a:t>一种用于微创手术系统的自适应3D图像处理方法及装置，包括：实时立体图像校正（畸变/对齐），基于深度学习的超分辨率重建（将1080p实时上变换至4K级别），以及自适应亮度/对比度调整以补偿手术烟雾与血液干扰，提高图像清晰度。</a:t>
            </a:r>
          </a:p>
        </p:txBody>
      </p:sp>
      <p:sp>
        <p:nvSpPr>
          <p:cNvPr id="16" name="TextBox 15"/>
          <p:cNvSpPr txBox="1"/>
          <p:nvPr/>
        </p:nvSpPr>
        <p:spPr>
          <a:xfrm>
            <a:off x="457200" y="2441448"/>
            <a:ext cx="4023360" cy="164592"/>
          </a:xfrm>
          <a:prstGeom prst="rect">
            <a:avLst/>
          </a:prstGeom>
          <a:noFill/>
        </p:spPr>
        <p:txBody>
          <a:bodyPr wrap="square">
            <a:spAutoFit/>
          </a:bodyPr>
          <a:lstStyle/>
          <a:p>
            <a:pPr algn="l"/>
            <a:r>
              <a:rPr sz="750" b="0" i="0">
                <a:solidFill>
                  <a:srgbClr val="1A2E4A"/>
                </a:solidFill>
              </a:rPr>
              <a:t>• 一种实时立体图像畸变校正的算法及装置</a:t>
            </a:r>
          </a:p>
        </p:txBody>
      </p:sp>
      <p:sp>
        <p:nvSpPr>
          <p:cNvPr id="17" name="TextBox 16"/>
          <p:cNvSpPr txBox="1"/>
          <p:nvPr/>
        </p:nvSpPr>
        <p:spPr>
          <a:xfrm>
            <a:off x="4572000" y="2441448"/>
            <a:ext cx="4023360" cy="164592"/>
          </a:xfrm>
          <a:prstGeom prst="rect">
            <a:avLst/>
          </a:prstGeom>
          <a:noFill/>
        </p:spPr>
        <p:txBody>
          <a:bodyPr wrap="square">
            <a:spAutoFit/>
          </a:bodyPr>
          <a:lstStyle/>
          <a:p>
            <a:pPr algn="l"/>
            <a:r>
              <a:rPr sz="750" b="0" i="0">
                <a:solidFill>
                  <a:srgbClr val="1A2E4A"/>
                </a:solidFill>
              </a:rPr>
              <a:t>• 一种基于深度学习的手术图像超分辨率重建方法</a:t>
            </a:r>
          </a:p>
        </p:txBody>
      </p:sp>
      <p:sp>
        <p:nvSpPr>
          <p:cNvPr id="18" name="Rectangle 17"/>
          <p:cNvSpPr/>
          <p:nvPr/>
        </p:nvSpPr>
        <p:spPr>
          <a:xfrm>
            <a:off x="365760" y="2715768"/>
            <a:ext cx="84124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15768"/>
            <a:ext cx="1417320" cy="292608"/>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2752344"/>
            <a:ext cx="1371600" cy="228600"/>
          </a:xfrm>
          <a:prstGeom prst="rect">
            <a:avLst/>
          </a:prstGeom>
          <a:noFill/>
        </p:spPr>
        <p:txBody>
          <a:bodyPr wrap="square">
            <a:spAutoFit/>
          </a:bodyPr>
          <a:lstStyle/>
          <a:p>
            <a:pPr algn="l"/>
            <a:r>
              <a:rPr sz="900" b="1" i="0">
                <a:solidFill>
                  <a:srgbClr val="FFFFFF"/>
                </a:solidFill>
              </a:rPr>
              <a:t>荧光成像 / ICG</a:t>
            </a:r>
          </a:p>
        </p:txBody>
      </p:sp>
      <p:sp>
        <p:nvSpPr>
          <p:cNvPr id="21" name="TextBox 20"/>
          <p:cNvSpPr txBox="1"/>
          <p:nvPr/>
        </p:nvSpPr>
        <p:spPr>
          <a:xfrm>
            <a:off x="1920240" y="2743200"/>
            <a:ext cx="2743200" cy="237744"/>
          </a:xfrm>
          <a:prstGeom prst="rect">
            <a:avLst/>
          </a:prstGeom>
          <a:noFill/>
        </p:spPr>
        <p:txBody>
          <a:bodyPr wrap="square">
            <a:spAutoFit/>
          </a:bodyPr>
          <a:lstStyle/>
          <a:p>
            <a:pPr algn="l"/>
            <a:r>
              <a:rPr sz="1200" b="1" i="0">
                <a:solidFill>
                  <a:srgbClr val="002D6A"/>
                </a:solidFill>
              </a:rPr>
              <a:t>US20240216042A1</a:t>
            </a:r>
          </a:p>
        </p:txBody>
      </p:sp>
      <p:sp>
        <p:nvSpPr>
          <p:cNvPr id="22" name="Rectangle 21"/>
          <p:cNvSpPr/>
          <p:nvPr/>
        </p:nvSpPr>
        <p:spPr>
          <a:xfrm>
            <a:off x="4754880" y="2752344"/>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2761488"/>
            <a:ext cx="1417320" cy="201168"/>
          </a:xfrm>
          <a:prstGeom prst="rect">
            <a:avLst/>
          </a:prstGeom>
          <a:noFill/>
        </p:spPr>
        <p:txBody>
          <a:bodyPr wrap="square">
            <a:spAutoFit/>
          </a:bodyPr>
          <a:lstStyle/>
          <a:p>
            <a:pPr algn="ctr"/>
            <a:r>
              <a:rPr sz="800" b="1" i="0">
                <a:solidFill>
                  <a:srgbClr val="FFFFFF"/>
                </a:solidFill>
              </a:rPr>
              <a:t>申请中（Pending）</a:t>
            </a:r>
          </a:p>
        </p:txBody>
      </p:sp>
      <p:sp>
        <p:nvSpPr>
          <p:cNvPr id="24" name="TextBox 23"/>
          <p:cNvSpPr txBox="1"/>
          <p:nvPr/>
        </p:nvSpPr>
        <p:spPr>
          <a:xfrm>
            <a:off x="1920240" y="2971800"/>
            <a:ext cx="6766560" cy="228600"/>
          </a:xfrm>
          <a:prstGeom prst="rect">
            <a:avLst/>
          </a:prstGeom>
          <a:noFill/>
        </p:spPr>
        <p:txBody>
          <a:bodyPr wrap="square">
            <a:spAutoFit/>
          </a:bodyPr>
          <a:lstStyle/>
          <a:p>
            <a:pPr algn="l"/>
            <a:r>
              <a:rPr sz="1000" b="1" i="0">
                <a:solidFill>
                  <a:srgbClr val="1A2E4A"/>
                </a:solidFill>
              </a:rPr>
              <a:t>Near-Infrared Fluorescence Imaging with Real-Time Overlay in Robotic Surgery</a:t>
            </a:r>
          </a:p>
        </p:txBody>
      </p:sp>
      <p:sp>
        <p:nvSpPr>
          <p:cNvPr id="25" name="TextBox 24"/>
          <p:cNvSpPr txBox="1"/>
          <p:nvPr/>
        </p:nvSpPr>
        <p:spPr>
          <a:xfrm>
            <a:off x="457200" y="3218688"/>
            <a:ext cx="8229600" cy="365760"/>
          </a:xfrm>
          <a:prstGeom prst="rect">
            <a:avLst/>
          </a:prstGeom>
          <a:noFill/>
        </p:spPr>
        <p:txBody>
          <a:bodyPr wrap="square">
            <a:spAutoFit/>
          </a:bodyPr>
          <a:lstStyle/>
          <a:p>
            <a:pPr algn="l"/>
            <a:r>
              <a:rPr sz="800" b="0" i="0">
                <a:solidFill>
                  <a:srgbClr val="445566"/>
                </a:solidFill>
              </a:rPr>
              <a:t>一种机器人手术中的近红外荧光成像系统及方法，使用ICG（吲哚菁绿）作为造影剂，在近红外激发光下实时采集荧光信号，并通过图像融合算法将荧光图像叠加于可见光3D术野上，辅助外科医生识别血管、淋巴结及组织灌注情况，支持实时血流灌注评估。</a:t>
            </a:r>
          </a:p>
        </p:txBody>
      </p:sp>
      <p:sp>
        <p:nvSpPr>
          <p:cNvPr id="26" name="TextBox 25"/>
          <p:cNvSpPr txBox="1"/>
          <p:nvPr/>
        </p:nvSpPr>
        <p:spPr>
          <a:xfrm>
            <a:off x="457200" y="3557016"/>
            <a:ext cx="4023360" cy="164592"/>
          </a:xfrm>
          <a:prstGeom prst="rect">
            <a:avLst/>
          </a:prstGeom>
          <a:noFill/>
        </p:spPr>
        <p:txBody>
          <a:bodyPr wrap="square">
            <a:spAutoFit/>
          </a:bodyPr>
          <a:lstStyle/>
          <a:p>
            <a:pPr algn="l"/>
            <a:r>
              <a:rPr sz="750" b="0" i="0">
                <a:solidFill>
                  <a:srgbClr val="1A2E4A"/>
                </a:solidFill>
              </a:rPr>
              <a:t>• 一种近红外荧光与可见光3D图像的实时融合叠加方法</a:t>
            </a:r>
          </a:p>
        </p:txBody>
      </p:sp>
      <p:sp>
        <p:nvSpPr>
          <p:cNvPr id="27" name="TextBox 26"/>
          <p:cNvSpPr txBox="1"/>
          <p:nvPr/>
        </p:nvSpPr>
        <p:spPr>
          <a:xfrm>
            <a:off x="4572000" y="3557016"/>
            <a:ext cx="4023360" cy="164592"/>
          </a:xfrm>
          <a:prstGeom prst="rect">
            <a:avLst/>
          </a:prstGeom>
          <a:noFill/>
        </p:spPr>
        <p:txBody>
          <a:bodyPr wrap="square">
            <a:spAutoFit/>
          </a:bodyPr>
          <a:lstStyle/>
          <a:p>
            <a:pPr algn="l"/>
            <a:r>
              <a:rPr sz="750" b="0" i="0">
                <a:solidFill>
                  <a:srgbClr val="1A2E4A"/>
                </a:solidFill>
              </a:rPr>
              <a:t>• 一种用于手术机器人系统的ICG荧光检测装置</a:t>
            </a:r>
          </a:p>
        </p:txBody>
      </p:sp>
      <p:sp>
        <p:nvSpPr>
          <p:cNvPr id="28" name="Rectangle 27"/>
          <p:cNvSpPr/>
          <p:nvPr/>
        </p:nvSpPr>
        <p:spPr>
          <a:xfrm>
            <a:off x="365760" y="3831336"/>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31336"/>
            <a:ext cx="1417320" cy="292608"/>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67912"/>
            <a:ext cx="1371600" cy="228600"/>
          </a:xfrm>
          <a:prstGeom prst="rect">
            <a:avLst/>
          </a:prstGeom>
          <a:noFill/>
        </p:spPr>
        <p:txBody>
          <a:bodyPr wrap="square">
            <a:spAutoFit/>
          </a:bodyPr>
          <a:lstStyle/>
          <a:p>
            <a:pPr algn="l"/>
            <a:r>
              <a:rPr sz="900" b="1" i="0">
                <a:solidFill>
                  <a:srgbClr val="FFFFFF"/>
                </a:solidFill>
              </a:rPr>
              <a:t>立体视觉 / 深度估计</a:t>
            </a:r>
          </a:p>
        </p:txBody>
      </p:sp>
      <p:sp>
        <p:nvSpPr>
          <p:cNvPr id="31" name="TextBox 30"/>
          <p:cNvSpPr txBox="1"/>
          <p:nvPr/>
        </p:nvSpPr>
        <p:spPr>
          <a:xfrm>
            <a:off x="1920240" y="3858768"/>
            <a:ext cx="2743200" cy="237744"/>
          </a:xfrm>
          <a:prstGeom prst="rect">
            <a:avLst/>
          </a:prstGeom>
          <a:noFill/>
        </p:spPr>
        <p:txBody>
          <a:bodyPr wrap="square">
            <a:spAutoFit/>
          </a:bodyPr>
          <a:lstStyle/>
          <a:p>
            <a:pPr algn="l"/>
            <a:r>
              <a:rPr sz="1200" b="1" i="0">
                <a:solidFill>
                  <a:srgbClr val="002D6A"/>
                </a:solidFill>
              </a:rPr>
              <a:t>US20240261807A1</a:t>
            </a:r>
          </a:p>
        </p:txBody>
      </p:sp>
      <p:sp>
        <p:nvSpPr>
          <p:cNvPr id="32" name="Rectangle 31"/>
          <p:cNvSpPr/>
          <p:nvPr/>
        </p:nvSpPr>
        <p:spPr>
          <a:xfrm>
            <a:off x="4754880" y="3867912"/>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877056"/>
            <a:ext cx="1417320" cy="201168"/>
          </a:xfrm>
          <a:prstGeom prst="rect">
            <a:avLst/>
          </a:prstGeom>
          <a:noFill/>
        </p:spPr>
        <p:txBody>
          <a:bodyPr wrap="square">
            <a:spAutoFit/>
          </a:bodyPr>
          <a:lstStyle/>
          <a:p>
            <a:pPr algn="ctr"/>
            <a:r>
              <a:rPr sz="800" b="1" i="0">
                <a:solidFill>
                  <a:srgbClr val="FFFFFF"/>
                </a:solidFill>
              </a:rPr>
              <a:t>申请中（Pending）</a:t>
            </a:r>
          </a:p>
        </p:txBody>
      </p:sp>
      <p:sp>
        <p:nvSpPr>
          <p:cNvPr id="34" name="TextBox 33"/>
          <p:cNvSpPr txBox="1"/>
          <p:nvPr/>
        </p:nvSpPr>
        <p:spPr>
          <a:xfrm>
            <a:off x="1920240" y="4087368"/>
            <a:ext cx="6766560" cy="228600"/>
          </a:xfrm>
          <a:prstGeom prst="rect">
            <a:avLst/>
          </a:prstGeom>
          <a:noFill/>
        </p:spPr>
        <p:txBody>
          <a:bodyPr wrap="square">
            <a:spAutoFit/>
          </a:bodyPr>
          <a:lstStyle/>
          <a:p>
            <a:pPr algn="l"/>
            <a:r>
              <a:rPr sz="1000" b="1" i="0">
                <a:solidFill>
                  <a:srgbClr val="1A2E4A"/>
                </a:solidFill>
              </a:rPr>
              <a:t>Stereo Camera Calibration and Depth Estimation for Endoscopic Surgery</a:t>
            </a:r>
          </a:p>
        </p:txBody>
      </p:sp>
      <p:sp>
        <p:nvSpPr>
          <p:cNvPr id="35" name="TextBox 34"/>
          <p:cNvSpPr txBox="1"/>
          <p:nvPr/>
        </p:nvSpPr>
        <p:spPr>
          <a:xfrm>
            <a:off x="457200" y="4334256"/>
            <a:ext cx="8229600" cy="365760"/>
          </a:xfrm>
          <a:prstGeom prst="rect">
            <a:avLst/>
          </a:prstGeom>
          <a:noFill/>
        </p:spPr>
        <p:txBody>
          <a:bodyPr wrap="square">
            <a:spAutoFit/>
          </a:bodyPr>
          <a:lstStyle/>
          <a:p>
            <a:pPr algn="l"/>
            <a:r>
              <a:rPr sz="800" b="0" i="0">
                <a:solidFill>
                  <a:srgbClr val="445566"/>
                </a:solidFill>
              </a:rPr>
              <a:t>一种用于内窥镜手术的立体相机标定与深度估计方法，通过术前标定确定左右相机内参与外参，术中利用立体匹配算法实时生成稠密深度图，支持术野的三维重建、器械碰撞检测，并可与术前CT/MRI图像配准，实现增强现实导航。</a:t>
            </a:r>
          </a:p>
        </p:txBody>
      </p:sp>
      <p:sp>
        <p:nvSpPr>
          <p:cNvPr id="36" name="TextBox 35"/>
          <p:cNvSpPr txBox="1"/>
          <p:nvPr/>
        </p:nvSpPr>
        <p:spPr>
          <a:xfrm>
            <a:off x="457200" y="4672584"/>
            <a:ext cx="4023360" cy="164592"/>
          </a:xfrm>
          <a:prstGeom prst="rect">
            <a:avLst/>
          </a:prstGeom>
          <a:noFill/>
        </p:spPr>
        <p:txBody>
          <a:bodyPr wrap="square">
            <a:spAutoFit/>
          </a:bodyPr>
          <a:lstStyle/>
          <a:p>
            <a:pPr algn="l"/>
            <a:r>
              <a:rPr sz="750" b="0" i="0">
                <a:solidFill>
                  <a:srgbClr val="1A2E4A"/>
                </a:solidFill>
              </a:rPr>
              <a:t>• 一种手术内窥镜立体相机的在线标定方法</a:t>
            </a:r>
          </a:p>
        </p:txBody>
      </p:sp>
      <p:sp>
        <p:nvSpPr>
          <p:cNvPr id="37" name="TextBox 36"/>
          <p:cNvSpPr txBox="1"/>
          <p:nvPr/>
        </p:nvSpPr>
        <p:spPr>
          <a:xfrm>
            <a:off x="4572000" y="4672584"/>
            <a:ext cx="4023360" cy="164592"/>
          </a:xfrm>
          <a:prstGeom prst="rect">
            <a:avLst/>
          </a:prstGeom>
          <a:noFill/>
        </p:spPr>
        <p:txBody>
          <a:bodyPr wrap="square">
            <a:spAutoFit/>
          </a:bodyPr>
          <a:lstStyle/>
          <a:p>
            <a:pPr algn="l"/>
            <a:r>
              <a:rPr sz="750" b="0" i="0">
                <a:solidFill>
                  <a:srgbClr val="1A2E4A"/>
                </a:solidFill>
              </a:rPr>
              <a:t>• 一种基于深度学习的立体匹配与稠密深度估计算法</a:t>
            </a:r>
          </a:p>
        </p:txBody>
      </p:sp>
      <p:sp>
        <p:nvSpPr>
          <p:cNvPr id="38" name="Rectangle 37"/>
          <p:cNvSpPr/>
          <p:nvPr/>
        </p:nvSpPr>
        <p:spPr>
          <a:xfrm>
            <a:off x="365760" y="5047488"/>
            <a:ext cx="8412480" cy="54864"/>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074920"/>
            <a:ext cx="8412480" cy="274320"/>
          </a:xfrm>
          <a:prstGeom prst="rect">
            <a:avLst/>
          </a:prstGeom>
          <a:noFill/>
        </p:spPr>
        <p:txBody>
          <a:bodyPr wrap="square">
            <a:spAutoFit/>
          </a:bodyPr>
          <a:lstStyle/>
          <a:p>
            <a:pPr algn="l"/>
            <a:r>
              <a:rPr sz="750" b="0" i="1">
                <a:solidFill>
                  <a:srgbClr val="445566"/>
                </a:solidFill>
              </a:rPr>
              <a:t>注：上述专利基于 Da Vinci 5 成像系统的公开功能描述，结合 USPTO 公开数据检索所得，具体信息以 USPTO 官网记载为准。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06  AI 手术洞察平台专利  Case Insights AI Platform Patents</a:t>
            </a:r>
          </a:p>
        </p:txBody>
      </p:sp>
      <p:sp>
        <p:nvSpPr>
          <p:cNvPr id="4" name="TextBox 3"/>
          <p:cNvSpPr txBox="1"/>
          <p:nvPr/>
        </p:nvSpPr>
        <p:spPr>
          <a:xfrm>
            <a:off x="365760" y="502920"/>
            <a:ext cx="8412480" cy="274320"/>
          </a:xfrm>
          <a:prstGeom prst="rect">
            <a:avLst/>
          </a:prstGeom>
          <a:noFill/>
        </p:spPr>
        <p:txBody>
          <a:bodyPr wrap="square">
            <a:spAutoFit/>
          </a:bodyPr>
          <a:lstStyle/>
          <a:p>
            <a:pPr algn="l"/>
            <a:r>
              <a:rPr sz="1000" b="0" i="0">
                <a:solidFill>
                  <a:srgbClr val="AACCFF"/>
                </a:solidFill>
              </a:rPr>
              <a:t>Da Vinci 5 突破：整合视频 + 遥测 + 运动学数据，机器学习驱动的手术阶段分割与性能分析</a:t>
            </a:r>
          </a:p>
        </p:txBody>
      </p:sp>
      <p:sp>
        <p:nvSpPr>
          <p:cNvPr id="5" name="Rectangle 4"/>
          <p:cNvSpPr/>
          <p:nvPr/>
        </p:nvSpPr>
        <p:spPr>
          <a:xfrm>
            <a:off x="365760" y="960120"/>
            <a:ext cx="8412480" cy="54864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 cy="548640"/>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8183879" cy="502920"/>
          </a:xfrm>
          <a:prstGeom prst="rect">
            <a:avLst/>
          </a:prstGeom>
          <a:noFill/>
        </p:spPr>
        <p:txBody>
          <a:bodyPr wrap="square">
            <a:spAutoFit/>
          </a:bodyPr>
          <a:lstStyle/>
          <a:p>
            <a:pPr algn="l"/>
            <a:r>
              <a:rPr sz="950" b="0" i="0">
                <a:solidFill>
                  <a:srgbClr val="1A2E4A"/>
                </a:solidFill>
              </a:rPr>
              <a:t>平台概述：Case Insights 是 Da Vinci 5 的核心AI功能，利用手术系统产生的大规模多模态数据，通过机器学习算法实现手术阶段自动分割、器械使用效率评估、力学性能分析，为外科医生提供类似"体育比赛录像"的术后复盘与改进反馈。2025年9月新增 Force Gauge、Console Video Replay 及 Network CCM 三大功能模块。</a:t>
            </a:r>
          </a:p>
        </p:txBody>
      </p:sp>
      <p:sp>
        <p:nvSpPr>
          <p:cNvPr id="8" name="Rectangle 7"/>
          <p:cNvSpPr/>
          <p:nvPr/>
        </p:nvSpPr>
        <p:spPr>
          <a:xfrm>
            <a:off x="365760" y="1600200"/>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00200"/>
            <a:ext cx="1417320" cy="292608"/>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636776"/>
            <a:ext cx="1371600" cy="228600"/>
          </a:xfrm>
          <a:prstGeom prst="rect">
            <a:avLst/>
          </a:prstGeom>
          <a:noFill/>
        </p:spPr>
        <p:txBody>
          <a:bodyPr wrap="square">
            <a:spAutoFit/>
          </a:bodyPr>
          <a:lstStyle/>
          <a:p>
            <a:pPr algn="l"/>
            <a:r>
              <a:rPr sz="900" b="1" i="0">
                <a:solidFill>
                  <a:srgbClr val="FFFFFF"/>
                </a:solidFill>
              </a:rPr>
              <a:t>手术阶段分割 / ML</a:t>
            </a:r>
          </a:p>
        </p:txBody>
      </p:sp>
      <p:sp>
        <p:nvSpPr>
          <p:cNvPr id="11" name="TextBox 10"/>
          <p:cNvSpPr txBox="1"/>
          <p:nvPr/>
        </p:nvSpPr>
        <p:spPr>
          <a:xfrm>
            <a:off x="1920240" y="1627632"/>
            <a:ext cx="2743200" cy="237744"/>
          </a:xfrm>
          <a:prstGeom prst="rect">
            <a:avLst/>
          </a:prstGeom>
          <a:noFill/>
        </p:spPr>
        <p:txBody>
          <a:bodyPr wrap="square">
            <a:spAutoFit/>
          </a:bodyPr>
          <a:lstStyle/>
          <a:p>
            <a:pPr algn="l"/>
            <a:r>
              <a:rPr sz="1200" b="1" i="0">
                <a:solidFill>
                  <a:srgbClr val="002D6A"/>
                </a:solidFill>
              </a:rPr>
              <a:t>US20240198624A1</a:t>
            </a:r>
          </a:p>
        </p:txBody>
      </p:sp>
      <p:sp>
        <p:nvSpPr>
          <p:cNvPr id="12" name="Rectangle 11"/>
          <p:cNvSpPr/>
          <p:nvPr/>
        </p:nvSpPr>
        <p:spPr>
          <a:xfrm>
            <a:off x="4754880" y="1636776"/>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645920"/>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14" name="TextBox 13"/>
          <p:cNvSpPr txBox="1"/>
          <p:nvPr/>
        </p:nvSpPr>
        <p:spPr>
          <a:xfrm>
            <a:off x="1920240" y="1856232"/>
            <a:ext cx="6766560" cy="228600"/>
          </a:xfrm>
          <a:prstGeom prst="rect">
            <a:avLst/>
          </a:prstGeom>
          <a:noFill/>
        </p:spPr>
        <p:txBody>
          <a:bodyPr wrap="square">
            <a:spAutoFit/>
          </a:bodyPr>
          <a:lstStyle/>
          <a:p>
            <a:pPr algn="l"/>
            <a:r>
              <a:rPr sz="1000" b="1" i="0">
                <a:solidFill>
                  <a:srgbClr val="1A2E4A"/>
                </a:solidFill>
              </a:rPr>
              <a:t>Surgical Phase Segmentation Using Multi-Modal Learning from Robot Kinematics and Video</a:t>
            </a:r>
          </a:p>
        </p:txBody>
      </p:sp>
      <p:sp>
        <p:nvSpPr>
          <p:cNvPr id="15" name="TextBox 14"/>
          <p:cNvSpPr txBox="1"/>
          <p:nvPr/>
        </p:nvSpPr>
        <p:spPr>
          <a:xfrm>
            <a:off x="457200" y="2103120"/>
            <a:ext cx="8229600" cy="365760"/>
          </a:xfrm>
          <a:prstGeom prst="rect">
            <a:avLst/>
          </a:prstGeom>
          <a:noFill/>
        </p:spPr>
        <p:txBody>
          <a:bodyPr wrap="square">
            <a:spAutoFit/>
          </a:bodyPr>
          <a:lstStyle/>
          <a:p>
            <a:pPr algn="l"/>
            <a:r>
              <a:rPr sz="800" b="0" i="0">
                <a:solidFill>
                  <a:srgbClr val="445566"/>
                </a:solidFill>
              </a:rPr>
              <a:t>一种利用多模态学习（结合机器人运动学数据与术中视频）进行手术阶段自动分割的方法。系统提取器械末端位置/速度/加速度序列，联合视频帧的CNN特征，通过Transformer或LSTM网络输出手术阶段的时序标注，支持手术步骤的客观记录、效率对比与异常检测。</a:t>
            </a:r>
          </a:p>
        </p:txBody>
      </p:sp>
      <p:sp>
        <p:nvSpPr>
          <p:cNvPr id="16" name="TextBox 15"/>
          <p:cNvSpPr txBox="1"/>
          <p:nvPr/>
        </p:nvSpPr>
        <p:spPr>
          <a:xfrm>
            <a:off x="457200" y="2441448"/>
            <a:ext cx="4023360" cy="164592"/>
          </a:xfrm>
          <a:prstGeom prst="rect">
            <a:avLst/>
          </a:prstGeom>
          <a:noFill/>
        </p:spPr>
        <p:txBody>
          <a:bodyPr wrap="square">
            <a:spAutoFit/>
          </a:bodyPr>
          <a:lstStyle/>
          <a:p>
            <a:pPr algn="l"/>
            <a:r>
              <a:rPr sz="750" b="0" i="0">
                <a:solidFill>
                  <a:srgbClr val="1A2E4A"/>
                </a:solidFill>
              </a:rPr>
              <a:t>• 一种联合机器人运动学与视频特征进行手术阶段分割的深度学习方法</a:t>
            </a:r>
          </a:p>
        </p:txBody>
      </p:sp>
      <p:sp>
        <p:nvSpPr>
          <p:cNvPr id="17" name="TextBox 16"/>
          <p:cNvSpPr txBox="1"/>
          <p:nvPr/>
        </p:nvSpPr>
        <p:spPr>
          <a:xfrm>
            <a:off x="4572000" y="2441448"/>
            <a:ext cx="4023360" cy="164592"/>
          </a:xfrm>
          <a:prstGeom prst="rect">
            <a:avLst/>
          </a:prstGeom>
          <a:noFill/>
        </p:spPr>
        <p:txBody>
          <a:bodyPr wrap="square">
            <a:spAutoFit/>
          </a:bodyPr>
          <a:lstStyle/>
          <a:p>
            <a:pPr algn="l"/>
            <a:r>
              <a:rPr sz="750" b="0" i="0">
                <a:solidFill>
                  <a:srgbClr val="1A2E4A"/>
                </a:solidFill>
              </a:rPr>
              <a:t>• 一种用于手术步骤客观记录与标准化编码的系统</a:t>
            </a:r>
          </a:p>
        </p:txBody>
      </p:sp>
      <p:sp>
        <p:nvSpPr>
          <p:cNvPr id="18" name="Rectangle 17"/>
          <p:cNvSpPr/>
          <p:nvPr/>
        </p:nvSpPr>
        <p:spPr>
          <a:xfrm>
            <a:off x="365760" y="2715768"/>
            <a:ext cx="84124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15768"/>
            <a:ext cx="141732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2752344"/>
            <a:ext cx="1371600" cy="228600"/>
          </a:xfrm>
          <a:prstGeom prst="rect">
            <a:avLst/>
          </a:prstGeom>
          <a:noFill/>
        </p:spPr>
        <p:txBody>
          <a:bodyPr wrap="square">
            <a:spAutoFit/>
          </a:bodyPr>
          <a:lstStyle/>
          <a:p>
            <a:pPr algn="l"/>
            <a:r>
              <a:rPr sz="900" b="1" i="0">
                <a:solidFill>
                  <a:srgbClr val="FFFFFF"/>
                </a:solidFill>
              </a:rPr>
              <a:t>术后分析 / 数据看板</a:t>
            </a:r>
          </a:p>
        </p:txBody>
      </p:sp>
      <p:sp>
        <p:nvSpPr>
          <p:cNvPr id="21" name="TextBox 20"/>
          <p:cNvSpPr txBox="1"/>
          <p:nvPr/>
        </p:nvSpPr>
        <p:spPr>
          <a:xfrm>
            <a:off x="1920240" y="2743200"/>
            <a:ext cx="2743200" cy="237744"/>
          </a:xfrm>
          <a:prstGeom prst="rect">
            <a:avLst/>
          </a:prstGeom>
          <a:noFill/>
        </p:spPr>
        <p:txBody>
          <a:bodyPr wrap="square">
            <a:spAutoFit/>
          </a:bodyPr>
          <a:lstStyle/>
          <a:p>
            <a:pPr algn="l"/>
            <a:r>
              <a:rPr sz="1200" b="1" i="0">
                <a:solidFill>
                  <a:srgbClr val="002D6A"/>
                </a:solidFill>
              </a:rPr>
              <a:t>US20240268784A1</a:t>
            </a:r>
          </a:p>
        </p:txBody>
      </p:sp>
      <p:sp>
        <p:nvSpPr>
          <p:cNvPr id="22" name="Rectangle 21"/>
          <p:cNvSpPr/>
          <p:nvPr/>
        </p:nvSpPr>
        <p:spPr>
          <a:xfrm>
            <a:off x="4754880" y="2752344"/>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2761488"/>
            <a:ext cx="1417320" cy="201168"/>
          </a:xfrm>
          <a:prstGeom prst="rect">
            <a:avLst/>
          </a:prstGeom>
          <a:noFill/>
        </p:spPr>
        <p:txBody>
          <a:bodyPr wrap="square">
            <a:spAutoFit/>
          </a:bodyPr>
          <a:lstStyle/>
          <a:p>
            <a:pPr algn="ctr"/>
            <a:r>
              <a:rPr sz="800" b="1" i="0">
                <a:solidFill>
                  <a:srgbClr val="FFFFFF"/>
                </a:solidFill>
              </a:rPr>
              <a:t>申请中（Pending）</a:t>
            </a:r>
          </a:p>
        </p:txBody>
      </p:sp>
      <p:sp>
        <p:nvSpPr>
          <p:cNvPr id="24" name="TextBox 23"/>
          <p:cNvSpPr txBox="1"/>
          <p:nvPr/>
        </p:nvSpPr>
        <p:spPr>
          <a:xfrm>
            <a:off x="1920240" y="2971800"/>
            <a:ext cx="6766560" cy="228600"/>
          </a:xfrm>
          <a:prstGeom prst="rect">
            <a:avLst/>
          </a:prstGeom>
          <a:noFill/>
        </p:spPr>
        <p:txBody>
          <a:bodyPr wrap="square">
            <a:spAutoFit/>
          </a:bodyPr>
          <a:lstStyle/>
          <a:p>
            <a:pPr algn="l"/>
            <a:r>
              <a:rPr sz="1000" b="1" i="0">
                <a:solidFill>
                  <a:srgbClr val="1A2E4A"/>
                </a:solidFill>
              </a:rPr>
              <a:t>Post-Procedure Analytics Dashboard for Surgical Performance Optimization</a:t>
            </a:r>
          </a:p>
        </p:txBody>
      </p:sp>
      <p:sp>
        <p:nvSpPr>
          <p:cNvPr id="25" name="TextBox 24"/>
          <p:cNvSpPr txBox="1"/>
          <p:nvPr/>
        </p:nvSpPr>
        <p:spPr>
          <a:xfrm>
            <a:off x="457200" y="3218688"/>
            <a:ext cx="8229600" cy="365760"/>
          </a:xfrm>
          <a:prstGeom prst="rect">
            <a:avLst/>
          </a:prstGeom>
          <a:noFill/>
        </p:spPr>
        <p:txBody>
          <a:bodyPr wrap="square">
            <a:spAutoFit/>
          </a:bodyPr>
          <a:lstStyle/>
          <a:p>
            <a:pPr algn="l"/>
            <a:r>
              <a:rPr sz="800" b="0" i="0">
                <a:solidFill>
                  <a:srgbClr val="445566"/>
                </a:solidFill>
              </a:rPr>
              <a:t>一种术后手术性能分析仪表盘系统及方法，将手术过程中采集的器械轨迹、施力大小、能量器械使用时机、视频片段等数据整合后，以可视化方式呈现给外科医生，包括器械路径热力图、施力曲线、手术耗时分解、与同期病例的基准对比等，支持外科医生的个人技能提升与手术室效率优化。</a:t>
            </a:r>
          </a:p>
        </p:txBody>
      </p:sp>
      <p:sp>
        <p:nvSpPr>
          <p:cNvPr id="26" name="TextBox 25"/>
          <p:cNvSpPr txBox="1"/>
          <p:nvPr/>
        </p:nvSpPr>
        <p:spPr>
          <a:xfrm>
            <a:off x="457200" y="3557016"/>
            <a:ext cx="4023360" cy="164592"/>
          </a:xfrm>
          <a:prstGeom prst="rect">
            <a:avLst/>
          </a:prstGeom>
          <a:noFill/>
        </p:spPr>
        <p:txBody>
          <a:bodyPr wrap="square">
            <a:spAutoFit/>
          </a:bodyPr>
          <a:lstStyle/>
          <a:p>
            <a:pPr algn="l"/>
            <a:r>
              <a:rPr sz="750" b="0" i="0">
                <a:solidFill>
                  <a:srgbClr val="1A2E4A"/>
                </a:solidFill>
              </a:rPr>
              <a:t>• 一种术后手术性能数据的可视化呈现方法与系统</a:t>
            </a:r>
          </a:p>
        </p:txBody>
      </p:sp>
      <p:sp>
        <p:nvSpPr>
          <p:cNvPr id="27" name="TextBox 26"/>
          <p:cNvSpPr txBox="1"/>
          <p:nvPr/>
        </p:nvSpPr>
        <p:spPr>
          <a:xfrm>
            <a:off x="4572000" y="3557016"/>
            <a:ext cx="4023360" cy="164592"/>
          </a:xfrm>
          <a:prstGeom prst="rect">
            <a:avLst/>
          </a:prstGeom>
          <a:noFill/>
        </p:spPr>
        <p:txBody>
          <a:bodyPr wrap="square">
            <a:spAutoFit/>
          </a:bodyPr>
          <a:lstStyle/>
          <a:p>
            <a:pPr algn="l"/>
            <a:r>
              <a:rPr sz="750" b="0" i="0">
                <a:solidFill>
                  <a:srgbClr val="1A2E4A"/>
                </a:solidFill>
              </a:rPr>
              <a:t>• 一种手术器械轨迹热力图的生成方法</a:t>
            </a:r>
          </a:p>
        </p:txBody>
      </p:sp>
      <p:sp>
        <p:nvSpPr>
          <p:cNvPr id="28" name="Rectangle 27"/>
          <p:cNvSpPr/>
          <p:nvPr/>
        </p:nvSpPr>
        <p:spPr>
          <a:xfrm>
            <a:off x="365760" y="3831336"/>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31336"/>
            <a:ext cx="1417320" cy="292608"/>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67912"/>
            <a:ext cx="1371600" cy="228600"/>
          </a:xfrm>
          <a:prstGeom prst="rect">
            <a:avLst/>
          </a:prstGeom>
          <a:noFill/>
        </p:spPr>
        <p:txBody>
          <a:bodyPr wrap="square">
            <a:spAutoFit/>
          </a:bodyPr>
          <a:lstStyle/>
          <a:p>
            <a:pPr algn="l"/>
            <a:r>
              <a:rPr sz="900" b="1" i="0">
                <a:solidFill>
                  <a:srgbClr val="FFFFFF"/>
                </a:solidFill>
              </a:rPr>
              <a:t>云端数据 / 联邦学习</a:t>
            </a:r>
          </a:p>
        </p:txBody>
      </p:sp>
      <p:sp>
        <p:nvSpPr>
          <p:cNvPr id="31" name="TextBox 30"/>
          <p:cNvSpPr txBox="1"/>
          <p:nvPr/>
        </p:nvSpPr>
        <p:spPr>
          <a:xfrm>
            <a:off x="1920240" y="3858768"/>
            <a:ext cx="2743200" cy="237744"/>
          </a:xfrm>
          <a:prstGeom prst="rect">
            <a:avLst/>
          </a:prstGeom>
          <a:noFill/>
        </p:spPr>
        <p:txBody>
          <a:bodyPr wrap="square">
            <a:spAutoFit/>
          </a:bodyPr>
          <a:lstStyle/>
          <a:p>
            <a:pPr algn="l"/>
            <a:r>
              <a:rPr sz="1200" b="1" i="0">
                <a:solidFill>
                  <a:srgbClr val="002D6A"/>
                </a:solidFill>
              </a:rPr>
              <a:t>US20240315600A1</a:t>
            </a:r>
          </a:p>
        </p:txBody>
      </p:sp>
      <p:sp>
        <p:nvSpPr>
          <p:cNvPr id="32" name="Rectangle 31"/>
          <p:cNvSpPr/>
          <p:nvPr/>
        </p:nvSpPr>
        <p:spPr>
          <a:xfrm>
            <a:off x="4754880" y="3867912"/>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877056"/>
            <a:ext cx="1417320" cy="201168"/>
          </a:xfrm>
          <a:prstGeom prst="rect">
            <a:avLst/>
          </a:prstGeom>
          <a:noFill/>
        </p:spPr>
        <p:txBody>
          <a:bodyPr wrap="square">
            <a:spAutoFit/>
          </a:bodyPr>
          <a:lstStyle/>
          <a:p>
            <a:pPr algn="ctr"/>
            <a:r>
              <a:rPr sz="800" b="1" i="0">
                <a:solidFill>
                  <a:srgbClr val="FFFFFF"/>
                </a:solidFill>
              </a:rPr>
              <a:t>申请中（Pending）</a:t>
            </a:r>
          </a:p>
        </p:txBody>
      </p:sp>
      <p:sp>
        <p:nvSpPr>
          <p:cNvPr id="34" name="TextBox 33"/>
          <p:cNvSpPr txBox="1"/>
          <p:nvPr/>
        </p:nvSpPr>
        <p:spPr>
          <a:xfrm>
            <a:off x="1920240" y="4087368"/>
            <a:ext cx="6766560" cy="228600"/>
          </a:xfrm>
          <a:prstGeom prst="rect">
            <a:avLst/>
          </a:prstGeom>
          <a:noFill/>
        </p:spPr>
        <p:txBody>
          <a:bodyPr wrap="square">
            <a:spAutoFit/>
          </a:bodyPr>
          <a:lstStyle/>
          <a:p>
            <a:pPr algn="l"/>
            <a:r>
              <a:rPr sz="1000" b="1" i="0">
                <a:solidFill>
                  <a:srgbClr val="1A2E4A"/>
                </a:solidFill>
              </a:rPr>
              <a:t>Cloud-Based Surgical Data Infrastructure for Multi-Center Learning</a:t>
            </a:r>
          </a:p>
        </p:txBody>
      </p:sp>
      <p:sp>
        <p:nvSpPr>
          <p:cNvPr id="35" name="TextBox 34"/>
          <p:cNvSpPr txBox="1"/>
          <p:nvPr/>
        </p:nvSpPr>
        <p:spPr>
          <a:xfrm>
            <a:off x="457200" y="4334256"/>
            <a:ext cx="8229600" cy="365760"/>
          </a:xfrm>
          <a:prstGeom prst="rect">
            <a:avLst/>
          </a:prstGeom>
          <a:noFill/>
        </p:spPr>
        <p:txBody>
          <a:bodyPr wrap="square">
            <a:spAutoFit/>
          </a:bodyPr>
          <a:lstStyle/>
          <a:p>
            <a:pPr algn="l"/>
            <a:r>
              <a:rPr sz="800" b="0" i="0">
                <a:solidFill>
                  <a:srgbClr val="445566"/>
                </a:solidFill>
              </a:rPr>
              <a:t>一种基于云端的多中心手术数据基础设施，支持跨机构手术数据的匿名化汇聚、模型训练与共享（联邦学习），在不泄露患者隐私的前提下，利用全球数十万例手术数据持续优化AI模型，实现手术机器人的持续学习与性能迭代。</a:t>
            </a:r>
          </a:p>
        </p:txBody>
      </p:sp>
      <p:sp>
        <p:nvSpPr>
          <p:cNvPr id="36" name="TextBox 35"/>
          <p:cNvSpPr txBox="1"/>
          <p:nvPr/>
        </p:nvSpPr>
        <p:spPr>
          <a:xfrm>
            <a:off x="457200" y="4672584"/>
            <a:ext cx="4023360" cy="164592"/>
          </a:xfrm>
          <a:prstGeom prst="rect">
            <a:avLst/>
          </a:prstGeom>
          <a:noFill/>
        </p:spPr>
        <p:txBody>
          <a:bodyPr wrap="square">
            <a:spAutoFit/>
          </a:bodyPr>
          <a:lstStyle/>
          <a:p>
            <a:pPr algn="l"/>
            <a:r>
              <a:rPr sz="750" b="0" i="0">
                <a:solidFill>
                  <a:srgbClr val="1A2E4A"/>
                </a:solidFill>
              </a:rPr>
              <a:t>• 一种手术数据的隐私保护与匿名化处理方法</a:t>
            </a:r>
          </a:p>
        </p:txBody>
      </p:sp>
      <p:sp>
        <p:nvSpPr>
          <p:cNvPr id="37" name="TextBox 36"/>
          <p:cNvSpPr txBox="1"/>
          <p:nvPr/>
        </p:nvSpPr>
        <p:spPr>
          <a:xfrm>
            <a:off x="4572000" y="4672584"/>
            <a:ext cx="4023360" cy="164592"/>
          </a:xfrm>
          <a:prstGeom prst="rect">
            <a:avLst/>
          </a:prstGeom>
          <a:noFill/>
        </p:spPr>
        <p:txBody>
          <a:bodyPr wrap="square">
            <a:spAutoFit/>
          </a:bodyPr>
          <a:lstStyle/>
          <a:p>
            <a:pPr algn="l"/>
            <a:r>
              <a:rPr sz="750" b="0" i="0">
                <a:solidFill>
                  <a:srgbClr val="1A2E4A"/>
                </a:solidFill>
              </a:rPr>
              <a:t>• 一种联邦学习在手术机器人AI模型训练中的应用方法</a:t>
            </a:r>
          </a:p>
        </p:txBody>
      </p:sp>
      <p:sp>
        <p:nvSpPr>
          <p:cNvPr id="38" name="Rectangle 37"/>
          <p:cNvSpPr/>
          <p:nvPr/>
        </p:nvSpPr>
        <p:spPr>
          <a:xfrm>
            <a:off x="365760" y="5047488"/>
            <a:ext cx="8412480" cy="54864"/>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074920"/>
            <a:ext cx="8412480" cy="274320"/>
          </a:xfrm>
          <a:prstGeom prst="rect">
            <a:avLst/>
          </a:prstGeom>
          <a:noFill/>
        </p:spPr>
        <p:txBody>
          <a:bodyPr wrap="square">
            <a:spAutoFit/>
          </a:bodyPr>
          <a:lstStyle/>
          <a:p>
            <a:pPr algn="l"/>
            <a:r>
              <a:rPr sz="750" b="0" i="1">
                <a:solidFill>
                  <a:srgbClr val="445566"/>
                </a:solidFill>
              </a:rPr>
              <a:t>注：Case Insights 为 Da Vinci 5 独有平台功能，相关专利尚在申请中；2025年9月新增 Force Gauge、Console Video Replay 等功能。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07  先进计算平台专利  Advanced Computing Platform Patents</a:t>
            </a:r>
          </a:p>
        </p:txBody>
      </p:sp>
      <p:sp>
        <p:nvSpPr>
          <p:cNvPr id="4" name="TextBox 3"/>
          <p:cNvSpPr txBox="1"/>
          <p:nvPr/>
        </p:nvSpPr>
        <p:spPr>
          <a:xfrm>
            <a:off x="365760" y="502920"/>
            <a:ext cx="8412480" cy="274320"/>
          </a:xfrm>
          <a:prstGeom prst="rect">
            <a:avLst/>
          </a:prstGeom>
          <a:noFill/>
        </p:spPr>
        <p:txBody>
          <a:bodyPr wrap="square">
            <a:spAutoFit/>
          </a:bodyPr>
          <a:lstStyle/>
          <a:p>
            <a:pPr algn="l"/>
            <a:r>
              <a:rPr sz="1000" b="0" i="0">
                <a:solidFill>
                  <a:srgbClr val="AACCFF"/>
                </a:solidFill>
              </a:rPr>
              <a:t>Da Vinci 5 里程碑：与 NVIDIA 合作，计算能力提升 10,000 倍，基于 Blackwell 架构</a:t>
            </a:r>
          </a:p>
        </p:txBody>
      </p:sp>
      <p:sp>
        <p:nvSpPr>
          <p:cNvPr id="5" name="Rectangle 4"/>
          <p:cNvSpPr/>
          <p:nvPr/>
        </p:nvSpPr>
        <p:spPr>
          <a:xfrm>
            <a:off x="365760" y="960120"/>
            <a:ext cx="8412480" cy="54864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 cy="54864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8183879" cy="502920"/>
          </a:xfrm>
          <a:prstGeom prst="rect">
            <a:avLst/>
          </a:prstGeom>
          <a:noFill/>
        </p:spPr>
        <p:txBody>
          <a:bodyPr wrap="square">
            <a:spAutoFit/>
          </a:bodyPr>
          <a:lstStyle/>
          <a:p>
            <a:pPr algn="l"/>
            <a:r>
              <a:rPr sz="950" b="0" i="0">
                <a:solidFill>
                  <a:srgbClr val="1A2E4A"/>
                </a:solidFill>
              </a:rPr>
              <a:t>技术背景：达芬奇5的计算架构是其所有AI功能的基础。与NVIDIA合作引入Blackwell GPU平台、Clara医学计算框架，实现实时AI推理、术中图像增强、力反馈计算、手术数据分析的全流程加速；相比达芬奇Xi延迟降低至微秒级，为未来自主手术功能预留充分算力空间。</a:t>
            </a:r>
          </a:p>
        </p:txBody>
      </p:sp>
      <p:sp>
        <p:nvSpPr>
          <p:cNvPr id="8" name="Rectangle 7"/>
          <p:cNvSpPr/>
          <p:nvPr/>
        </p:nvSpPr>
        <p:spPr>
          <a:xfrm>
            <a:off x="365760" y="1600200"/>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00200"/>
            <a:ext cx="1417320" cy="292608"/>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636776"/>
            <a:ext cx="1371600" cy="228600"/>
          </a:xfrm>
          <a:prstGeom prst="rect">
            <a:avLst/>
          </a:prstGeom>
          <a:noFill/>
        </p:spPr>
        <p:txBody>
          <a:bodyPr wrap="square">
            <a:spAutoFit/>
          </a:bodyPr>
          <a:lstStyle/>
          <a:p>
            <a:pPr algn="l"/>
            <a:r>
              <a:rPr sz="900" b="1" i="0">
                <a:solidFill>
                  <a:srgbClr val="FFFFFF"/>
                </a:solidFill>
              </a:rPr>
              <a:t>AI 推理 / 实时控制</a:t>
            </a:r>
          </a:p>
        </p:txBody>
      </p:sp>
      <p:sp>
        <p:nvSpPr>
          <p:cNvPr id="11" name="TextBox 10"/>
          <p:cNvSpPr txBox="1"/>
          <p:nvPr/>
        </p:nvSpPr>
        <p:spPr>
          <a:xfrm>
            <a:off x="1920240" y="1627632"/>
            <a:ext cx="2743200" cy="237744"/>
          </a:xfrm>
          <a:prstGeom prst="rect">
            <a:avLst/>
          </a:prstGeom>
          <a:noFill/>
        </p:spPr>
        <p:txBody>
          <a:bodyPr wrap="square">
            <a:spAutoFit/>
          </a:bodyPr>
          <a:lstStyle/>
          <a:p>
            <a:pPr algn="l"/>
            <a:r>
              <a:rPr sz="1200" b="1" i="0">
                <a:solidFill>
                  <a:srgbClr val="002D6A"/>
                </a:solidFill>
              </a:rPr>
              <a:t>US20240225501A1</a:t>
            </a:r>
          </a:p>
        </p:txBody>
      </p:sp>
      <p:sp>
        <p:nvSpPr>
          <p:cNvPr id="12" name="Rectangle 11"/>
          <p:cNvSpPr/>
          <p:nvPr/>
        </p:nvSpPr>
        <p:spPr>
          <a:xfrm>
            <a:off x="4754880" y="1636776"/>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645920"/>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14" name="TextBox 13"/>
          <p:cNvSpPr txBox="1"/>
          <p:nvPr/>
        </p:nvSpPr>
        <p:spPr>
          <a:xfrm>
            <a:off x="1920240" y="1856232"/>
            <a:ext cx="6766560" cy="228600"/>
          </a:xfrm>
          <a:prstGeom prst="rect">
            <a:avLst/>
          </a:prstGeom>
          <a:noFill/>
        </p:spPr>
        <p:txBody>
          <a:bodyPr wrap="square">
            <a:spAutoFit/>
          </a:bodyPr>
          <a:lstStyle/>
          <a:p>
            <a:pPr algn="l"/>
            <a:r>
              <a:rPr sz="1000" b="1" i="0">
                <a:solidFill>
                  <a:srgbClr val="1A2E4A"/>
                </a:solidFill>
              </a:rPr>
              <a:t>Real-Time AI Inference Engine for Surgical Robotic Control Systems</a:t>
            </a:r>
          </a:p>
        </p:txBody>
      </p:sp>
      <p:sp>
        <p:nvSpPr>
          <p:cNvPr id="15" name="TextBox 14"/>
          <p:cNvSpPr txBox="1"/>
          <p:nvPr/>
        </p:nvSpPr>
        <p:spPr>
          <a:xfrm>
            <a:off x="457200" y="2103120"/>
            <a:ext cx="8229600" cy="365760"/>
          </a:xfrm>
          <a:prstGeom prst="rect">
            <a:avLst/>
          </a:prstGeom>
          <a:noFill/>
        </p:spPr>
        <p:txBody>
          <a:bodyPr wrap="square">
            <a:spAutoFit/>
          </a:bodyPr>
          <a:lstStyle/>
          <a:p>
            <a:pPr algn="l"/>
            <a:r>
              <a:rPr sz="800" b="0" i="0">
                <a:solidFill>
                  <a:srgbClr val="445566"/>
                </a:solidFill>
              </a:rPr>
              <a:t>一种用于手术机器人控制系统的实时AI推理引擎及方法，包含专用的神经网络推理加速模块，支持INT8/FP16混合精度计算，在GPU上实现亚毫秒级AI推理延迟，可实时运行手术阶段分割、器械识别、深度估计等多项AI任务，同时不影响控制回路的实时性（≥1kHz），保障手术安全。</a:t>
            </a:r>
          </a:p>
        </p:txBody>
      </p:sp>
      <p:sp>
        <p:nvSpPr>
          <p:cNvPr id="16" name="TextBox 15"/>
          <p:cNvSpPr txBox="1"/>
          <p:nvPr/>
        </p:nvSpPr>
        <p:spPr>
          <a:xfrm>
            <a:off x="457200" y="2441448"/>
            <a:ext cx="4023360" cy="164592"/>
          </a:xfrm>
          <a:prstGeom prst="rect">
            <a:avLst/>
          </a:prstGeom>
          <a:noFill/>
        </p:spPr>
        <p:txBody>
          <a:bodyPr wrap="square">
            <a:spAutoFit/>
          </a:bodyPr>
          <a:lstStyle/>
          <a:p>
            <a:pPr algn="l"/>
            <a:r>
              <a:rPr sz="750" b="0" i="0">
                <a:solidFill>
                  <a:srgbClr val="1A2E4A"/>
                </a:solidFill>
              </a:rPr>
              <a:t>• 一种手术机器人控制系统的实时AI推理加速架构</a:t>
            </a:r>
          </a:p>
        </p:txBody>
      </p:sp>
      <p:sp>
        <p:nvSpPr>
          <p:cNvPr id="17" name="TextBox 16"/>
          <p:cNvSpPr txBox="1"/>
          <p:nvPr/>
        </p:nvSpPr>
        <p:spPr>
          <a:xfrm>
            <a:off x="4572000" y="2441448"/>
            <a:ext cx="4023360" cy="164592"/>
          </a:xfrm>
          <a:prstGeom prst="rect">
            <a:avLst/>
          </a:prstGeom>
          <a:noFill/>
        </p:spPr>
        <p:txBody>
          <a:bodyPr wrap="square">
            <a:spAutoFit/>
          </a:bodyPr>
          <a:lstStyle/>
          <a:p>
            <a:pPr algn="l"/>
            <a:r>
              <a:rPr sz="750" b="0" i="0">
                <a:solidFill>
                  <a:srgbClr val="1A2E4A"/>
                </a:solidFill>
              </a:rPr>
              <a:t>• 一种多AI任务并行推理的实时调度方法</a:t>
            </a:r>
          </a:p>
        </p:txBody>
      </p:sp>
      <p:sp>
        <p:nvSpPr>
          <p:cNvPr id="18" name="Rectangle 17"/>
          <p:cNvSpPr/>
          <p:nvPr/>
        </p:nvSpPr>
        <p:spPr>
          <a:xfrm>
            <a:off x="365760" y="2715768"/>
            <a:ext cx="84124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15768"/>
            <a:ext cx="1417320" cy="292608"/>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2752344"/>
            <a:ext cx="1371600" cy="228600"/>
          </a:xfrm>
          <a:prstGeom prst="rect">
            <a:avLst/>
          </a:prstGeom>
          <a:noFill/>
        </p:spPr>
        <p:txBody>
          <a:bodyPr wrap="square">
            <a:spAutoFit/>
          </a:bodyPr>
          <a:lstStyle/>
          <a:p>
            <a:pPr algn="l"/>
            <a:r>
              <a:rPr sz="900" b="1" i="0">
                <a:solidFill>
                  <a:srgbClr val="FFFFFF"/>
                </a:solidFill>
              </a:rPr>
              <a:t>图像传输 / 低延迟</a:t>
            </a:r>
          </a:p>
        </p:txBody>
      </p:sp>
      <p:sp>
        <p:nvSpPr>
          <p:cNvPr id="21" name="TextBox 20"/>
          <p:cNvSpPr txBox="1"/>
          <p:nvPr/>
        </p:nvSpPr>
        <p:spPr>
          <a:xfrm>
            <a:off x="1920240" y="2743200"/>
            <a:ext cx="2743200" cy="237744"/>
          </a:xfrm>
          <a:prstGeom prst="rect">
            <a:avLst/>
          </a:prstGeom>
          <a:noFill/>
        </p:spPr>
        <p:txBody>
          <a:bodyPr wrap="square">
            <a:spAutoFit/>
          </a:bodyPr>
          <a:lstStyle/>
          <a:p>
            <a:pPr algn="l"/>
            <a:r>
              <a:rPr sz="1200" b="1" i="0">
                <a:solidFill>
                  <a:srgbClr val="002D6A"/>
                </a:solidFill>
              </a:rPr>
              <a:t>US20240307012A1</a:t>
            </a:r>
          </a:p>
        </p:txBody>
      </p:sp>
      <p:sp>
        <p:nvSpPr>
          <p:cNvPr id="22" name="Rectangle 21"/>
          <p:cNvSpPr/>
          <p:nvPr/>
        </p:nvSpPr>
        <p:spPr>
          <a:xfrm>
            <a:off x="4754880" y="2752344"/>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2761488"/>
            <a:ext cx="1417320" cy="201168"/>
          </a:xfrm>
          <a:prstGeom prst="rect">
            <a:avLst/>
          </a:prstGeom>
          <a:noFill/>
        </p:spPr>
        <p:txBody>
          <a:bodyPr wrap="square">
            <a:spAutoFit/>
          </a:bodyPr>
          <a:lstStyle/>
          <a:p>
            <a:pPr algn="ctr"/>
            <a:r>
              <a:rPr sz="800" b="1" i="0">
                <a:solidFill>
                  <a:srgbClr val="FFFFFF"/>
                </a:solidFill>
              </a:rPr>
              <a:t>申请中（Pending）</a:t>
            </a:r>
          </a:p>
        </p:txBody>
      </p:sp>
      <p:sp>
        <p:nvSpPr>
          <p:cNvPr id="24" name="TextBox 23"/>
          <p:cNvSpPr txBox="1"/>
          <p:nvPr/>
        </p:nvSpPr>
        <p:spPr>
          <a:xfrm>
            <a:off x="1920240" y="2971800"/>
            <a:ext cx="6766560" cy="228600"/>
          </a:xfrm>
          <a:prstGeom prst="rect">
            <a:avLst/>
          </a:prstGeom>
          <a:noFill/>
        </p:spPr>
        <p:txBody>
          <a:bodyPr wrap="square">
            <a:spAutoFit/>
          </a:bodyPr>
          <a:lstStyle/>
          <a:p>
            <a:pPr algn="l"/>
            <a:r>
              <a:rPr sz="1000" b="1" i="0">
                <a:solidFill>
                  <a:srgbClr val="1A2E4A"/>
                </a:solidFill>
              </a:rPr>
              <a:t>Low-Latency Image Transport and Processing Architecture for Robotic Surgery</a:t>
            </a:r>
          </a:p>
        </p:txBody>
      </p:sp>
      <p:sp>
        <p:nvSpPr>
          <p:cNvPr id="25" name="TextBox 24"/>
          <p:cNvSpPr txBox="1"/>
          <p:nvPr/>
        </p:nvSpPr>
        <p:spPr>
          <a:xfrm>
            <a:off x="457200" y="3218688"/>
            <a:ext cx="8229600" cy="365760"/>
          </a:xfrm>
          <a:prstGeom prst="rect">
            <a:avLst/>
          </a:prstGeom>
          <a:noFill/>
        </p:spPr>
        <p:txBody>
          <a:bodyPr wrap="square">
            <a:spAutoFit/>
          </a:bodyPr>
          <a:lstStyle/>
          <a:p>
            <a:pPr algn="l"/>
            <a:r>
              <a:rPr sz="800" b="0" i="0">
                <a:solidFill>
                  <a:srgbClr val="445566"/>
                </a:solidFill>
              </a:rPr>
              <a:t>一种用于机器人手术的低延迟图像传输与处理架构，采用专用图像处理管道（ISP Pipeline），将内窥镜原始传感器数据通过高速SerDes链路传输至GPU加速处理单元，再将处理后图像以3D格式输出至操控台显示器，全链路延迟控制在2ms以内，结合视觉无损压缩技术保障图像质量。</a:t>
            </a:r>
          </a:p>
        </p:txBody>
      </p:sp>
      <p:sp>
        <p:nvSpPr>
          <p:cNvPr id="26" name="TextBox 25"/>
          <p:cNvSpPr txBox="1"/>
          <p:nvPr/>
        </p:nvSpPr>
        <p:spPr>
          <a:xfrm>
            <a:off x="457200" y="3557016"/>
            <a:ext cx="4023360" cy="164592"/>
          </a:xfrm>
          <a:prstGeom prst="rect">
            <a:avLst/>
          </a:prstGeom>
          <a:noFill/>
        </p:spPr>
        <p:txBody>
          <a:bodyPr wrap="square">
            <a:spAutoFit/>
          </a:bodyPr>
          <a:lstStyle/>
          <a:p>
            <a:pPr algn="l"/>
            <a:r>
              <a:rPr sz="750" b="0" i="0">
                <a:solidFill>
                  <a:srgbClr val="1A2E4A"/>
                </a:solidFill>
              </a:rPr>
              <a:t>• 一种低延迟图像传输与处理的系统架构设计</a:t>
            </a:r>
          </a:p>
        </p:txBody>
      </p:sp>
      <p:sp>
        <p:nvSpPr>
          <p:cNvPr id="27" name="TextBox 26"/>
          <p:cNvSpPr txBox="1"/>
          <p:nvPr/>
        </p:nvSpPr>
        <p:spPr>
          <a:xfrm>
            <a:off x="4572000" y="3557016"/>
            <a:ext cx="4023360" cy="164592"/>
          </a:xfrm>
          <a:prstGeom prst="rect">
            <a:avLst/>
          </a:prstGeom>
          <a:noFill/>
        </p:spPr>
        <p:txBody>
          <a:bodyPr wrap="square">
            <a:spAutoFit/>
          </a:bodyPr>
          <a:lstStyle/>
          <a:p>
            <a:pPr algn="l"/>
            <a:r>
              <a:rPr sz="750" b="0" i="0">
                <a:solidFill>
                  <a:srgbClr val="1A2E4A"/>
                </a:solidFill>
              </a:rPr>
              <a:t>• 一种用于手术内窥镜的视觉无损压缩编码方法</a:t>
            </a:r>
          </a:p>
        </p:txBody>
      </p:sp>
      <p:sp>
        <p:nvSpPr>
          <p:cNvPr id="28" name="Rectangle 27"/>
          <p:cNvSpPr/>
          <p:nvPr/>
        </p:nvSpPr>
        <p:spPr>
          <a:xfrm>
            <a:off x="365760" y="3831336"/>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31336"/>
            <a:ext cx="1417320" cy="29260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67912"/>
            <a:ext cx="1371600" cy="228600"/>
          </a:xfrm>
          <a:prstGeom prst="rect">
            <a:avLst/>
          </a:prstGeom>
          <a:noFill/>
        </p:spPr>
        <p:txBody>
          <a:bodyPr wrap="square">
            <a:spAutoFit/>
          </a:bodyPr>
          <a:lstStyle/>
          <a:p>
            <a:pPr algn="l"/>
            <a:r>
              <a:rPr sz="900" b="1" i="0">
                <a:solidFill>
                  <a:srgbClr val="FFFFFF"/>
                </a:solidFill>
              </a:rPr>
              <a:t>可扩展架构 / 网络</a:t>
            </a:r>
          </a:p>
        </p:txBody>
      </p:sp>
      <p:sp>
        <p:nvSpPr>
          <p:cNvPr id="31" name="TextBox 30"/>
          <p:cNvSpPr txBox="1"/>
          <p:nvPr/>
        </p:nvSpPr>
        <p:spPr>
          <a:xfrm>
            <a:off x="1920240" y="3858768"/>
            <a:ext cx="2743200" cy="237744"/>
          </a:xfrm>
          <a:prstGeom prst="rect">
            <a:avLst/>
          </a:prstGeom>
          <a:noFill/>
        </p:spPr>
        <p:txBody>
          <a:bodyPr wrap="square">
            <a:spAutoFit/>
          </a:bodyPr>
          <a:lstStyle/>
          <a:p>
            <a:pPr algn="l"/>
            <a:r>
              <a:rPr sz="1200" b="1" i="0">
                <a:solidFill>
                  <a:srgbClr val="002D6A"/>
                </a:solidFill>
              </a:rPr>
              <a:t>US20240144290A1</a:t>
            </a:r>
          </a:p>
        </p:txBody>
      </p:sp>
      <p:sp>
        <p:nvSpPr>
          <p:cNvPr id="32" name="Rectangle 31"/>
          <p:cNvSpPr/>
          <p:nvPr/>
        </p:nvSpPr>
        <p:spPr>
          <a:xfrm>
            <a:off x="4754880" y="3867912"/>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877056"/>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34" name="TextBox 33"/>
          <p:cNvSpPr txBox="1"/>
          <p:nvPr/>
        </p:nvSpPr>
        <p:spPr>
          <a:xfrm>
            <a:off x="1920240" y="4087368"/>
            <a:ext cx="6766560" cy="228600"/>
          </a:xfrm>
          <a:prstGeom prst="rect">
            <a:avLst/>
          </a:prstGeom>
          <a:noFill/>
        </p:spPr>
        <p:txBody>
          <a:bodyPr wrap="square">
            <a:spAutoFit/>
          </a:bodyPr>
          <a:lstStyle/>
          <a:p>
            <a:pPr algn="l"/>
            <a:r>
              <a:rPr sz="1000" b="1" i="0">
                <a:solidFill>
                  <a:srgbClr val="1A2E4A"/>
                </a:solidFill>
              </a:rPr>
              <a:t>Scalable Computing Architecture for Multi-System Surgical Robotics Network</a:t>
            </a:r>
          </a:p>
        </p:txBody>
      </p:sp>
      <p:sp>
        <p:nvSpPr>
          <p:cNvPr id="35" name="TextBox 34"/>
          <p:cNvSpPr txBox="1"/>
          <p:nvPr/>
        </p:nvSpPr>
        <p:spPr>
          <a:xfrm>
            <a:off x="457200" y="4334256"/>
            <a:ext cx="8229600" cy="365760"/>
          </a:xfrm>
          <a:prstGeom prst="rect">
            <a:avLst/>
          </a:prstGeom>
          <a:noFill/>
        </p:spPr>
        <p:txBody>
          <a:bodyPr wrap="square">
            <a:spAutoFit/>
          </a:bodyPr>
          <a:lstStyle/>
          <a:p>
            <a:pPr algn="l"/>
            <a:r>
              <a:rPr sz="800" b="0" i="0">
                <a:solidFill>
                  <a:srgbClr val="445566"/>
                </a:solidFill>
              </a:rPr>
              <a:t>一种用于多系统手术机器人网络的可扩展计算架构，支持达芬奇5与Ion腔内机器人、未来多代系统的统一计算平台管理，通过容器化部署实现AI模型的跨版本兼容，支持边缘-云端混合计算，满足医院数字化手术室的长期扩展需求。</a:t>
            </a:r>
          </a:p>
        </p:txBody>
      </p:sp>
      <p:sp>
        <p:nvSpPr>
          <p:cNvPr id="36" name="TextBox 35"/>
          <p:cNvSpPr txBox="1"/>
          <p:nvPr/>
        </p:nvSpPr>
        <p:spPr>
          <a:xfrm>
            <a:off x="457200" y="4672584"/>
            <a:ext cx="4023360" cy="164592"/>
          </a:xfrm>
          <a:prstGeom prst="rect">
            <a:avLst/>
          </a:prstGeom>
          <a:noFill/>
        </p:spPr>
        <p:txBody>
          <a:bodyPr wrap="square">
            <a:spAutoFit/>
          </a:bodyPr>
          <a:lstStyle/>
          <a:p>
            <a:pPr algn="l"/>
            <a:r>
              <a:rPr sz="750" b="0" i="0">
                <a:solidFill>
                  <a:srgbClr val="1A2E4A"/>
                </a:solidFill>
              </a:rPr>
              <a:t>• 一种支持多代手术机器人系统的统一计算平台架构</a:t>
            </a:r>
          </a:p>
        </p:txBody>
      </p:sp>
      <p:sp>
        <p:nvSpPr>
          <p:cNvPr id="37" name="TextBox 36"/>
          <p:cNvSpPr txBox="1"/>
          <p:nvPr/>
        </p:nvSpPr>
        <p:spPr>
          <a:xfrm>
            <a:off x="4572000" y="4672584"/>
            <a:ext cx="4023360" cy="164592"/>
          </a:xfrm>
          <a:prstGeom prst="rect">
            <a:avLst/>
          </a:prstGeom>
          <a:noFill/>
        </p:spPr>
        <p:txBody>
          <a:bodyPr wrap="square">
            <a:spAutoFit/>
          </a:bodyPr>
          <a:lstStyle/>
          <a:p>
            <a:pPr algn="l"/>
            <a:r>
              <a:rPr sz="750" b="0" i="0">
                <a:solidFill>
                  <a:srgbClr val="1A2E4A"/>
                </a:solidFill>
              </a:rPr>
              <a:t>• 一种容器化的AI模型跨版本部署方法</a:t>
            </a:r>
          </a:p>
        </p:txBody>
      </p:sp>
      <p:sp>
        <p:nvSpPr>
          <p:cNvPr id="38" name="Rectangle 37"/>
          <p:cNvSpPr/>
          <p:nvPr/>
        </p:nvSpPr>
        <p:spPr>
          <a:xfrm>
            <a:off x="365760" y="5047488"/>
            <a:ext cx="8412480" cy="54864"/>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074920"/>
            <a:ext cx="8412480" cy="274320"/>
          </a:xfrm>
          <a:prstGeom prst="rect">
            <a:avLst/>
          </a:prstGeom>
          <a:noFill/>
        </p:spPr>
        <p:txBody>
          <a:bodyPr wrap="square">
            <a:spAutoFit/>
          </a:bodyPr>
          <a:lstStyle/>
          <a:p>
            <a:pPr algn="l"/>
            <a:r>
              <a:rPr sz="750" b="0" i="1">
                <a:solidFill>
                  <a:srgbClr val="445566"/>
                </a:solidFill>
              </a:rPr>
              <a:t>注：计算平台专利是 Da Vinci 5 差异化竞争力的核心；与 NVIDIA 的合作采用定制化 BlackWell GPU 方案，具体架构细节属于商业秘密。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08  手术器械与内窥镜控制专利  Instrument &amp; Endoscopy Patents</a:t>
            </a:r>
          </a:p>
        </p:txBody>
      </p:sp>
      <p:sp>
        <p:nvSpPr>
          <p:cNvPr id="4" name="TextBox 3"/>
          <p:cNvSpPr txBox="1"/>
          <p:nvPr/>
        </p:nvSpPr>
        <p:spPr>
          <a:xfrm>
            <a:off x="365760" y="502920"/>
            <a:ext cx="8412480" cy="274320"/>
          </a:xfrm>
          <a:prstGeom prst="rect">
            <a:avLst/>
          </a:prstGeom>
          <a:noFill/>
        </p:spPr>
        <p:txBody>
          <a:bodyPr wrap="square">
            <a:spAutoFit/>
          </a:bodyPr>
          <a:lstStyle/>
          <a:p>
            <a:pPr algn="l"/>
            <a:r>
              <a:rPr sz="1000" b="0" i="0">
                <a:solidFill>
                  <a:srgbClr val="AACCFF"/>
                </a:solidFill>
              </a:rPr>
              <a:t>Da Vinci 5 进化：全新8mm力反馈器械 + 单孔手术拓展 + 智能能量控制</a:t>
            </a:r>
          </a:p>
        </p:txBody>
      </p:sp>
      <p:sp>
        <p:nvSpPr>
          <p:cNvPr id="5" name="Rectangle 4"/>
          <p:cNvSpPr/>
          <p:nvPr/>
        </p:nvSpPr>
        <p:spPr>
          <a:xfrm>
            <a:off x="365760" y="960120"/>
            <a:ext cx="8412480" cy="548640"/>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 cy="548640"/>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8183879" cy="502920"/>
          </a:xfrm>
          <a:prstGeom prst="rect">
            <a:avLst/>
          </a:prstGeom>
          <a:noFill/>
        </p:spPr>
        <p:txBody>
          <a:bodyPr wrap="square">
            <a:spAutoFit/>
          </a:bodyPr>
          <a:lstStyle/>
          <a:p>
            <a:pPr algn="l"/>
            <a:r>
              <a:rPr sz="950" b="0" i="0">
                <a:solidFill>
                  <a:srgbClr val="1A2E4A"/>
                </a:solidFill>
              </a:rPr>
              <a:t>技术背景：达芬奇5的器械系统延续EndoWrist经典设计理念，并在此基础上引入力反馈传感、全新5mm纤细器械、内窥镜旋转控制优化，以及与达芬奇SP系统的协同控制能力，进一步拓展单孔（SP）等微创手术适应症，覆盖泌尿、妇科、普外、胸外等多个专科。</a:t>
            </a:r>
          </a:p>
        </p:txBody>
      </p:sp>
      <p:sp>
        <p:nvSpPr>
          <p:cNvPr id="8" name="Rectangle 7"/>
          <p:cNvSpPr/>
          <p:nvPr/>
        </p:nvSpPr>
        <p:spPr>
          <a:xfrm>
            <a:off x="365760" y="1600200"/>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00200"/>
            <a:ext cx="1417320" cy="292608"/>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636776"/>
            <a:ext cx="1371600" cy="228600"/>
          </a:xfrm>
          <a:prstGeom prst="rect">
            <a:avLst/>
          </a:prstGeom>
          <a:noFill/>
        </p:spPr>
        <p:txBody>
          <a:bodyPr wrap="square">
            <a:spAutoFit/>
          </a:bodyPr>
          <a:lstStyle/>
          <a:p>
            <a:pPr algn="l"/>
            <a:r>
              <a:rPr sz="900" b="1" i="0">
                <a:solidFill>
                  <a:srgbClr val="FFFFFF"/>
                </a:solidFill>
              </a:rPr>
              <a:t>力传感 + 能量器械</a:t>
            </a:r>
          </a:p>
        </p:txBody>
      </p:sp>
      <p:sp>
        <p:nvSpPr>
          <p:cNvPr id="11" name="TextBox 10"/>
          <p:cNvSpPr txBox="1"/>
          <p:nvPr/>
        </p:nvSpPr>
        <p:spPr>
          <a:xfrm>
            <a:off x="1920240" y="1627632"/>
            <a:ext cx="2743200" cy="237744"/>
          </a:xfrm>
          <a:prstGeom prst="rect">
            <a:avLst/>
          </a:prstGeom>
          <a:noFill/>
        </p:spPr>
        <p:txBody>
          <a:bodyPr wrap="square">
            <a:spAutoFit/>
          </a:bodyPr>
          <a:lstStyle/>
          <a:p>
            <a:pPr algn="l"/>
            <a:r>
              <a:rPr sz="1200" b="1" i="0">
                <a:solidFill>
                  <a:srgbClr val="002D6A"/>
                </a:solidFill>
              </a:rPr>
              <a:t>US20240207251A1</a:t>
            </a:r>
          </a:p>
        </p:txBody>
      </p:sp>
      <p:sp>
        <p:nvSpPr>
          <p:cNvPr id="12" name="Rectangle 11"/>
          <p:cNvSpPr/>
          <p:nvPr/>
        </p:nvSpPr>
        <p:spPr>
          <a:xfrm>
            <a:off x="4754880" y="1636776"/>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645920"/>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14" name="TextBox 13"/>
          <p:cNvSpPr txBox="1"/>
          <p:nvPr/>
        </p:nvSpPr>
        <p:spPr>
          <a:xfrm>
            <a:off x="1920240" y="1856232"/>
            <a:ext cx="6766560" cy="228600"/>
          </a:xfrm>
          <a:prstGeom prst="rect">
            <a:avLst/>
          </a:prstGeom>
          <a:noFill/>
        </p:spPr>
        <p:txBody>
          <a:bodyPr wrap="square">
            <a:spAutoFit/>
          </a:bodyPr>
          <a:lstStyle/>
          <a:p>
            <a:pPr algn="l"/>
            <a:r>
              <a:rPr sz="1000" b="1" i="0">
                <a:solidFill>
                  <a:srgbClr val="1A2E4A"/>
                </a:solidFill>
              </a:rPr>
              <a:t>Force-Sensing Surgical Instrument with Integrated Sensor and Energy Delivery</a:t>
            </a:r>
          </a:p>
        </p:txBody>
      </p:sp>
      <p:sp>
        <p:nvSpPr>
          <p:cNvPr id="15" name="TextBox 14"/>
          <p:cNvSpPr txBox="1"/>
          <p:nvPr/>
        </p:nvSpPr>
        <p:spPr>
          <a:xfrm>
            <a:off x="457200" y="2103120"/>
            <a:ext cx="8229600" cy="365760"/>
          </a:xfrm>
          <a:prstGeom prst="rect">
            <a:avLst/>
          </a:prstGeom>
          <a:noFill/>
        </p:spPr>
        <p:txBody>
          <a:bodyPr wrap="square">
            <a:spAutoFit/>
          </a:bodyPr>
          <a:lstStyle/>
          <a:p>
            <a:pPr algn="l"/>
            <a:r>
              <a:rPr sz="800" b="0" i="0">
                <a:solidFill>
                  <a:srgbClr val="445566"/>
                </a:solidFill>
              </a:rPr>
              <a:t>一种集成力传感与能量输出的手术器械，在器械轴内同时嵌入应变式力传感器与能量传递通路（射频/超声），实现器械末端施力大小与能量输出的闭环控制：当传感器检测到组织接触力达到设定阈值时，自动调节能量器械输出功率，防止过度切割或热损伤，显著提升手术安全性。</a:t>
            </a:r>
          </a:p>
        </p:txBody>
      </p:sp>
      <p:sp>
        <p:nvSpPr>
          <p:cNvPr id="16" name="TextBox 15"/>
          <p:cNvSpPr txBox="1"/>
          <p:nvPr/>
        </p:nvSpPr>
        <p:spPr>
          <a:xfrm>
            <a:off x="457200" y="2441448"/>
            <a:ext cx="4023360" cy="164592"/>
          </a:xfrm>
          <a:prstGeom prst="rect">
            <a:avLst/>
          </a:prstGeom>
          <a:noFill/>
        </p:spPr>
        <p:txBody>
          <a:bodyPr wrap="square">
            <a:spAutoFit/>
          </a:bodyPr>
          <a:lstStyle/>
          <a:p>
            <a:pPr algn="l"/>
            <a:r>
              <a:rPr sz="750" b="0" i="0">
                <a:solidFill>
                  <a:srgbClr val="1A2E4A"/>
                </a:solidFill>
              </a:rPr>
              <a:t>• 一种集成力传感与能量输出的手术器械结构</a:t>
            </a:r>
          </a:p>
        </p:txBody>
      </p:sp>
      <p:sp>
        <p:nvSpPr>
          <p:cNvPr id="17" name="TextBox 16"/>
          <p:cNvSpPr txBox="1"/>
          <p:nvPr/>
        </p:nvSpPr>
        <p:spPr>
          <a:xfrm>
            <a:off x="4572000" y="2441448"/>
            <a:ext cx="4023360" cy="164592"/>
          </a:xfrm>
          <a:prstGeom prst="rect">
            <a:avLst/>
          </a:prstGeom>
          <a:noFill/>
        </p:spPr>
        <p:txBody>
          <a:bodyPr wrap="square">
            <a:spAutoFit/>
          </a:bodyPr>
          <a:lstStyle/>
          <a:p>
            <a:pPr algn="l"/>
            <a:r>
              <a:rPr sz="750" b="0" i="0">
                <a:solidFill>
                  <a:srgbClr val="1A2E4A"/>
                </a:solidFill>
              </a:rPr>
              <a:t>• 一种基于力反馈自动调节能量器械输出参数的闭环控制方法</a:t>
            </a:r>
          </a:p>
        </p:txBody>
      </p:sp>
      <p:sp>
        <p:nvSpPr>
          <p:cNvPr id="18" name="Rectangle 17"/>
          <p:cNvSpPr/>
          <p:nvPr/>
        </p:nvSpPr>
        <p:spPr>
          <a:xfrm>
            <a:off x="365760" y="2715768"/>
            <a:ext cx="8412480"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715768"/>
            <a:ext cx="1417320" cy="292608"/>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2752344"/>
            <a:ext cx="1371600" cy="228600"/>
          </a:xfrm>
          <a:prstGeom prst="rect">
            <a:avLst/>
          </a:prstGeom>
          <a:noFill/>
        </p:spPr>
        <p:txBody>
          <a:bodyPr wrap="square">
            <a:spAutoFit/>
          </a:bodyPr>
          <a:lstStyle/>
          <a:p>
            <a:pPr algn="l"/>
            <a:r>
              <a:rPr sz="900" b="1" i="0">
                <a:solidFill>
                  <a:srgbClr val="FFFFFF"/>
                </a:solidFill>
              </a:rPr>
              <a:t>智能能量控制</a:t>
            </a:r>
          </a:p>
        </p:txBody>
      </p:sp>
      <p:sp>
        <p:nvSpPr>
          <p:cNvPr id="21" name="TextBox 20"/>
          <p:cNvSpPr txBox="1"/>
          <p:nvPr/>
        </p:nvSpPr>
        <p:spPr>
          <a:xfrm>
            <a:off x="1920240" y="2743200"/>
            <a:ext cx="2743200" cy="237744"/>
          </a:xfrm>
          <a:prstGeom prst="rect">
            <a:avLst/>
          </a:prstGeom>
          <a:noFill/>
        </p:spPr>
        <p:txBody>
          <a:bodyPr wrap="square">
            <a:spAutoFit/>
          </a:bodyPr>
          <a:lstStyle/>
          <a:p>
            <a:pPr algn="l"/>
            <a:r>
              <a:rPr sz="1200" b="1" i="0">
                <a:solidFill>
                  <a:srgbClr val="002D6A"/>
                </a:solidFill>
              </a:rPr>
              <a:t>US20240281007A1</a:t>
            </a:r>
          </a:p>
        </p:txBody>
      </p:sp>
      <p:sp>
        <p:nvSpPr>
          <p:cNvPr id="22" name="Rectangle 21"/>
          <p:cNvSpPr/>
          <p:nvPr/>
        </p:nvSpPr>
        <p:spPr>
          <a:xfrm>
            <a:off x="4754880" y="2752344"/>
            <a:ext cx="146304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2761488"/>
            <a:ext cx="1417320" cy="201168"/>
          </a:xfrm>
          <a:prstGeom prst="rect">
            <a:avLst/>
          </a:prstGeom>
          <a:noFill/>
        </p:spPr>
        <p:txBody>
          <a:bodyPr wrap="square">
            <a:spAutoFit/>
          </a:bodyPr>
          <a:lstStyle/>
          <a:p>
            <a:pPr algn="ctr"/>
            <a:r>
              <a:rPr sz="800" b="1" i="0">
                <a:solidFill>
                  <a:srgbClr val="FFFFFF"/>
                </a:solidFill>
              </a:rPr>
              <a:t>申请中（Pending）</a:t>
            </a:r>
          </a:p>
        </p:txBody>
      </p:sp>
      <p:sp>
        <p:nvSpPr>
          <p:cNvPr id="24" name="TextBox 23"/>
          <p:cNvSpPr txBox="1"/>
          <p:nvPr/>
        </p:nvSpPr>
        <p:spPr>
          <a:xfrm>
            <a:off x="1920240" y="2971800"/>
            <a:ext cx="6766560" cy="228600"/>
          </a:xfrm>
          <a:prstGeom prst="rect">
            <a:avLst/>
          </a:prstGeom>
          <a:noFill/>
        </p:spPr>
        <p:txBody>
          <a:bodyPr wrap="square">
            <a:spAutoFit/>
          </a:bodyPr>
          <a:lstStyle/>
          <a:p>
            <a:pPr algn="l"/>
            <a:r>
              <a:rPr sz="1000" b="1" i="0">
                <a:solidFill>
                  <a:srgbClr val="1A2E4A"/>
                </a:solidFill>
              </a:rPr>
              <a:t>Smart Energy Control System with Tissue Impedance Monitoring</a:t>
            </a:r>
          </a:p>
        </p:txBody>
      </p:sp>
      <p:sp>
        <p:nvSpPr>
          <p:cNvPr id="25" name="TextBox 24"/>
          <p:cNvSpPr txBox="1"/>
          <p:nvPr/>
        </p:nvSpPr>
        <p:spPr>
          <a:xfrm>
            <a:off x="457200" y="3218688"/>
            <a:ext cx="8229600" cy="365760"/>
          </a:xfrm>
          <a:prstGeom prst="rect">
            <a:avLst/>
          </a:prstGeom>
          <a:noFill/>
        </p:spPr>
        <p:txBody>
          <a:bodyPr wrap="square">
            <a:spAutoFit/>
          </a:bodyPr>
          <a:lstStyle/>
          <a:p>
            <a:pPr algn="l"/>
            <a:r>
              <a:rPr sz="800" b="0" i="0">
                <a:solidFill>
                  <a:srgbClr val="445566"/>
                </a:solidFill>
              </a:rPr>
              <a:t>一种基于组织阻抗监测的智能能量控制系统，通过在能量器械工作时实时测量组织阻抗变化，结合实时算法动态调节能量输出（电压/频率/功率），在组织干燥前自动停止能量输出，防止过度凝固和粘连，特别适用于超声刀、血管闭合系统，缩短手术时间并减少并发症。</a:t>
            </a:r>
          </a:p>
        </p:txBody>
      </p:sp>
      <p:sp>
        <p:nvSpPr>
          <p:cNvPr id="26" name="TextBox 25"/>
          <p:cNvSpPr txBox="1"/>
          <p:nvPr/>
        </p:nvSpPr>
        <p:spPr>
          <a:xfrm>
            <a:off x="457200" y="3557016"/>
            <a:ext cx="4023360" cy="164592"/>
          </a:xfrm>
          <a:prstGeom prst="rect">
            <a:avLst/>
          </a:prstGeom>
          <a:noFill/>
        </p:spPr>
        <p:txBody>
          <a:bodyPr wrap="square">
            <a:spAutoFit/>
          </a:bodyPr>
          <a:lstStyle/>
          <a:p>
            <a:pPr algn="l"/>
            <a:r>
              <a:rPr sz="750" b="0" i="0">
                <a:solidFill>
                  <a:srgbClr val="1A2E4A"/>
                </a:solidFill>
              </a:rPr>
              <a:t>• 一种基于实时组织阻抗监测的动态能量调节方法</a:t>
            </a:r>
          </a:p>
        </p:txBody>
      </p:sp>
      <p:sp>
        <p:nvSpPr>
          <p:cNvPr id="27" name="TextBox 26"/>
          <p:cNvSpPr txBox="1"/>
          <p:nvPr/>
        </p:nvSpPr>
        <p:spPr>
          <a:xfrm>
            <a:off x="4572000" y="3557016"/>
            <a:ext cx="4023360" cy="164592"/>
          </a:xfrm>
          <a:prstGeom prst="rect">
            <a:avLst/>
          </a:prstGeom>
          <a:noFill/>
        </p:spPr>
        <p:txBody>
          <a:bodyPr wrap="square">
            <a:spAutoFit/>
          </a:bodyPr>
          <a:lstStyle/>
          <a:p>
            <a:pPr algn="l"/>
            <a:r>
              <a:rPr sz="750" b="0" i="0">
                <a:solidFill>
                  <a:srgbClr val="1A2E4A"/>
                </a:solidFill>
              </a:rPr>
              <a:t>• 一种防止能量器械过度凝固的自动停止控制算法</a:t>
            </a:r>
          </a:p>
        </p:txBody>
      </p:sp>
      <p:sp>
        <p:nvSpPr>
          <p:cNvPr id="28" name="Rectangle 27"/>
          <p:cNvSpPr/>
          <p:nvPr/>
        </p:nvSpPr>
        <p:spPr>
          <a:xfrm>
            <a:off x="365760" y="3831336"/>
            <a:ext cx="8412480" cy="1024128"/>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831336"/>
            <a:ext cx="141732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67912"/>
            <a:ext cx="1371600" cy="228600"/>
          </a:xfrm>
          <a:prstGeom prst="rect">
            <a:avLst/>
          </a:prstGeom>
          <a:noFill/>
        </p:spPr>
        <p:txBody>
          <a:bodyPr wrap="square">
            <a:spAutoFit/>
          </a:bodyPr>
          <a:lstStyle/>
          <a:p>
            <a:pPr algn="l"/>
            <a:r>
              <a:rPr sz="900" b="1" i="0">
                <a:solidFill>
                  <a:srgbClr val="FFFFFF"/>
                </a:solidFill>
              </a:rPr>
              <a:t>内窥镜控制 / 防碰撞</a:t>
            </a:r>
          </a:p>
        </p:txBody>
      </p:sp>
      <p:sp>
        <p:nvSpPr>
          <p:cNvPr id="31" name="TextBox 30"/>
          <p:cNvSpPr txBox="1"/>
          <p:nvPr/>
        </p:nvSpPr>
        <p:spPr>
          <a:xfrm>
            <a:off x="1920240" y="3858768"/>
            <a:ext cx="2743200" cy="237744"/>
          </a:xfrm>
          <a:prstGeom prst="rect">
            <a:avLst/>
          </a:prstGeom>
          <a:noFill/>
        </p:spPr>
        <p:txBody>
          <a:bodyPr wrap="square">
            <a:spAutoFit/>
          </a:bodyPr>
          <a:lstStyle/>
          <a:p>
            <a:pPr algn="l"/>
            <a:r>
              <a:rPr sz="1200" b="1" i="0">
                <a:solidFill>
                  <a:srgbClr val="002D6A"/>
                </a:solidFill>
              </a:rPr>
              <a:t>US20240189032A1</a:t>
            </a:r>
          </a:p>
        </p:txBody>
      </p:sp>
      <p:sp>
        <p:nvSpPr>
          <p:cNvPr id="32" name="Rectangle 31"/>
          <p:cNvSpPr/>
          <p:nvPr/>
        </p:nvSpPr>
        <p:spPr>
          <a:xfrm>
            <a:off x="4754880" y="3867912"/>
            <a:ext cx="146304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3877056"/>
            <a:ext cx="1417320" cy="201168"/>
          </a:xfrm>
          <a:prstGeom prst="rect">
            <a:avLst/>
          </a:prstGeom>
          <a:noFill/>
        </p:spPr>
        <p:txBody>
          <a:bodyPr wrap="square">
            <a:spAutoFit/>
          </a:bodyPr>
          <a:lstStyle/>
          <a:p>
            <a:pPr algn="ctr"/>
            <a:r>
              <a:rPr sz="800" b="1" i="0">
                <a:solidFill>
                  <a:srgbClr val="FFFFFF"/>
                </a:solidFill>
              </a:rPr>
              <a:t>公开中（Published）</a:t>
            </a:r>
          </a:p>
        </p:txBody>
      </p:sp>
      <p:sp>
        <p:nvSpPr>
          <p:cNvPr id="34" name="TextBox 33"/>
          <p:cNvSpPr txBox="1"/>
          <p:nvPr/>
        </p:nvSpPr>
        <p:spPr>
          <a:xfrm>
            <a:off x="1920240" y="4087368"/>
            <a:ext cx="6766560" cy="228600"/>
          </a:xfrm>
          <a:prstGeom prst="rect">
            <a:avLst/>
          </a:prstGeom>
          <a:noFill/>
        </p:spPr>
        <p:txBody>
          <a:bodyPr wrap="square">
            <a:spAutoFit/>
          </a:bodyPr>
          <a:lstStyle/>
          <a:p>
            <a:pPr algn="l"/>
            <a:r>
              <a:rPr sz="1000" b="1" i="0">
                <a:solidFill>
                  <a:srgbClr val="1A2E4A"/>
                </a:solidFill>
              </a:rPr>
              <a:t>Robotic Endoscope Control with Haptic Guidance and Collision Avoidance</a:t>
            </a:r>
          </a:p>
        </p:txBody>
      </p:sp>
      <p:sp>
        <p:nvSpPr>
          <p:cNvPr id="35" name="TextBox 34"/>
          <p:cNvSpPr txBox="1"/>
          <p:nvPr/>
        </p:nvSpPr>
        <p:spPr>
          <a:xfrm>
            <a:off x="457200" y="4334256"/>
            <a:ext cx="8229600" cy="365760"/>
          </a:xfrm>
          <a:prstGeom prst="rect">
            <a:avLst/>
          </a:prstGeom>
          <a:noFill/>
        </p:spPr>
        <p:txBody>
          <a:bodyPr wrap="square">
            <a:spAutoFit/>
          </a:bodyPr>
          <a:lstStyle/>
          <a:p>
            <a:pPr algn="l"/>
            <a:r>
              <a:rPr sz="800" b="0" i="0">
                <a:solidFill>
                  <a:srgbClr val="445566"/>
                </a:solidFill>
              </a:rPr>
              <a:t>一种具有触觉引导与碰撞规避功能的机器人内窥镜控制系统，通过实时建立手术器械与内窥镜之间的三维空间模型，计算器械运动路径并在操控台发出触觉警示（力反馈）防止内窥镜碰撞，同时优化内窥镜视角切换路径，减少助手调整内窥镜的频率，提高手术效率与团队协作体验。</a:t>
            </a:r>
          </a:p>
        </p:txBody>
      </p:sp>
      <p:sp>
        <p:nvSpPr>
          <p:cNvPr id="36" name="TextBox 35"/>
          <p:cNvSpPr txBox="1"/>
          <p:nvPr/>
        </p:nvSpPr>
        <p:spPr>
          <a:xfrm>
            <a:off x="457200" y="4672584"/>
            <a:ext cx="4023360" cy="164592"/>
          </a:xfrm>
          <a:prstGeom prst="rect">
            <a:avLst/>
          </a:prstGeom>
          <a:noFill/>
        </p:spPr>
        <p:txBody>
          <a:bodyPr wrap="square">
            <a:spAutoFit/>
          </a:bodyPr>
          <a:lstStyle/>
          <a:p>
            <a:pPr algn="l"/>
            <a:r>
              <a:rPr sz="750" b="0" i="0">
                <a:solidFill>
                  <a:srgbClr val="1A2E4A"/>
                </a:solidFill>
              </a:rPr>
              <a:t>• 一种手术器械与内窥镜碰撞实时检测与警示方法</a:t>
            </a:r>
          </a:p>
        </p:txBody>
      </p:sp>
      <p:sp>
        <p:nvSpPr>
          <p:cNvPr id="37" name="TextBox 36"/>
          <p:cNvSpPr txBox="1"/>
          <p:nvPr/>
        </p:nvSpPr>
        <p:spPr>
          <a:xfrm>
            <a:off x="4572000" y="4672584"/>
            <a:ext cx="4023360" cy="164592"/>
          </a:xfrm>
          <a:prstGeom prst="rect">
            <a:avLst/>
          </a:prstGeom>
          <a:noFill/>
        </p:spPr>
        <p:txBody>
          <a:bodyPr wrap="square">
            <a:spAutoFit/>
          </a:bodyPr>
          <a:lstStyle/>
          <a:p>
            <a:pPr algn="l"/>
            <a:r>
              <a:rPr sz="750" b="0" i="0">
                <a:solidFill>
                  <a:srgbClr val="1A2E4A"/>
                </a:solidFill>
              </a:rPr>
              <a:t>• 一种基于触觉引导的内窥镜视角优化控制算法</a:t>
            </a:r>
          </a:p>
        </p:txBody>
      </p:sp>
      <p:sp>
        <p:nvSpPr>
          <p:cNvPr id="38" name="Rectangle 37"/>
          <p:cNvSpPr/>
          <p:nvPr/>
        </p:nvSpPr>
        <p:spPr>
          <a:xfrm>
            <a:off x="365760" y="5047488"/>
            <a:ext cx="8412480" cy="54864"/>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074920"/>
            <a:ext cx="8412480" cy="274320"/>
          </a:xfrm>
          <a:prstGeom prst="rect">
            <a:avLst/>
          </a:prstGeom>
          <a:noFill/>
        </p:spPr>
        <p:txBody>
          <a:bodyPr wrap="square">
            <a:spAutoFit/>
          </a:bodyPr>
          <a:lstStyle/>
          <a:p>
            <a:pPr algn="l"/>
            <a:r>
              <a:rPr sz="750" b="0" i="1">
                <a:solidFill>
                  <a:srgbClr val="445566"/>
                </a:solidFill>
              </a:rPr>
              <a:t>注：器械与内窥镜控制专利是直觉外科最核心的专利护城河，涉及精密机械、光学、电子、软件等多学科交叉，侵权认定难度高，仿制壁垒显著。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5FF"/>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457200"/>
          </a:xfrm>
          <a:prstGeom prst="rect">
            <a:avLst/>
          </a:prstGeom>
          <a:noFill/>
        </p:spPr>
        <p:txBody>
          <a:bodyPr wrap="square">
            <a:spAutoFit/>
          </a:bodyPr>
          <a:lstStyle/>
          <a:p>
            <a:pPr algn="l"/>
            <a:r>
              <a:rPr sz="2000" b="1" i="0">
                <a:solidFill>
                  <a:srgbClr val="FFFFFF"/>
                </a:solidFill>
              </a:rPr>
              <a:t>09  专利战略总结  Strategic Summary</a:t>
            </a:r>
          </a:p>
        </p:txBody>
      </p:sp>
      <p:sp>
        <p:nvSpPr>
          <p:cNvPr id="4" name="TextBox 3"/>
          <p:cNvSpPr txBox="1"/>
          <p:nvPr/>
        </p:nvSpPr>
        <p:spPr>
          <a:xfrm>
            <a:off x="365760" y="960120"/>
            <a:ext cx="8229600" cy="274320"/>
          </a:xfrm>
          <a:prstGeom prst="rect">
            <a:avLst/>
          </a:prstGeom>
          <a:noFill/>
        </p:spPr>
        <p:txBody>
          <a:bodyPr wrap="square">
            <a:spAutoFit/>
          </a:bodyPr>
          <a:lstStyle/>
          <a:p>
            <a:pPr algn="l"/>
            <a:r>
              <a:rPr sz="1300" b="1" i="0">
                <a:solidFill>
                  <a:srgbClr val="002D6A"/>
                </a:solidFill>
              </a:rPr>
              <a:t>Da Vinci 5 五大技术方向专利全景</a:t>
            </a:r>
          </a:p>
        </p:txBody>
      </p:sp>
      <p:sp>
        <p:nvSpPr>
          <p:cNvPr id="5" name="Rectangle 4"/>
          <p:cNvSpPr/>
          <p:nvPr/>
        </p:nvSpPr>
        <p:spPr>
          <a:xfrm>
            <a:off x="365760" y="1261872"/>
            <a:ext cx="1280160" cy="27432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280160"/>
            <a:ext cx="1188720" cy="228600"/>
          </a:xfrm>
          <a:prstGeom prst="rect">
            <a:avLst/>
          </a:prstGeom>
          <a:noFill/>
        </p:spPr>
        <p:txBody>
          <a:bodyPr wrap="square">
            <a:spAutoFit/>
          </a:bodyPr>
          <a:lstStyle/>
          <a:p>
            <a:pPr algn="ctr"/>
            <a:r>
              <a:rPr sz="900" b="1" i="0">
                <a:solidFill>
                  <a:srgbClr val="FFFFFF"/>
                </a:solidFill>
              </a:rPr>
              <a:t>技术方向</a:t>
            </a:r>
          </a:p>
        </p:txBody>
      </p:sp>
      <p:sp>
        <p:nvSpPr>
          <p:cNvPr id="7" name="Rectangle 6"/>
          <p:cNvSpPr/>
          <p:nvPr/>
        </p:nvSpPr>
        <p:spPr>
          <a:xfrm>
            <a:off x="1645920" y="1261872"/>
            <a:ext cx="2011680" cy="27432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1280160"/>
            <a:ext cx="1920240" cy="228600"/>
          </a:xfrm>
          <a:prstGeom prst="rect">
            <a:avLst/>
          </a:prstGeom>
          <a:noFill/>
        </p:spPr>
        <p:txBody>
          <a:bodyPr wrap="square">
            <a:spAutoFit/>
          </a:bodyPr>
          <a:lstStyle/>
          <a:p>
            <a:pPr algn="ctr"/>
            <a:r>
              <a:rPr sz="900" b="1" i="0">
                <a:solidFill>
                  <a:srgbClr val="FFFFFF"/>
                </a:solidFill>
              </a:rPr>
              <a:t>代表专利</a:t>
            </a:r>
          </a:p>
        </p:txBody>
      </p:sp>
      <p:sp>
        <p:nvSpPr>
          <p:cNvPr id="9" name="Rectangle 8"/>
          <p:cNvSpPr/>
          <p:nvPr/>
        </p:nvSpPr>
        <p:spPr>
          <a:xfrm>
            <a:off x="3657600" y="1261872"/>
            <a:ext cx="2743200" cy="27432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280160"/>
            <a:ext cx="2651760" cy="228600"/>
          </a:xfrm>
          <a:prstGeom prst="rect">
            <a:avLst/>
          </a:prstGeom>
          <a:noFill/>
        </p:spPr>
        <p:txBody>
          <a:bodyPr wrap="square">
            <a:spAutoFit/>
          </a:bodyPr>
          <a:lstStyle/>
          <a:p>
            <a:pPr algn="ctr"/>
            <a:r>
              <a:rPr sz="900" b="1" i="0">
                <a:solidFill>
                  <a:srgbClr val="FFFFFF"/>
                </a:solidFill>
              </a:rPr>
              <a:t>技术突破</a:t>
            </a:r>
          </a:p>
        </p:txBody>
      </p:sp>
      <p:sp>
        <p:nvSpPr>
          <p:cNvPr id="11" name="Rectangle 10"/>
          <p:cNvSpPr/>
          <p:nvPr/>
        </p:nvSpPr>
        <p:spPr>
          <a:xfrm>
            <a:off x="6400800" y="1261872"/>
            <a:ext cx="2194560" cy="27432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280160"/>
            <a:ext cx="2103120" cy="228600"/>
          </a:xfrm>
          <a:prstGeom prst="rect">
            <a:avLst/>
          </a:prstGeom>
          <a:noFill/>
        </p:spPr>
        <p:txBody>
          <a:bodyPr wrap="square">
            <a:spAutoFit/>
          </a:bodyPr>
          <a:lstStyle/>
          <a:p>
            <a:pPr algn="ctr"/>
            <a:r>
              <a:rPr sz="900" b="1" i="0">
                <a:solidFill>
                  <a:srgbClr val="FFFFFF"/>
                </a:solidFill>
              </a:rPr>
              <a:t>临床价值</a:t>
            </a:r>
          </a:p>
        </p:txBody>
      </p:sp>
      <p:sp>
        <p:nvSpPr>
          <p:cNvPr id="13" name="Rectangle 12"/>
          <p:cNvSpPr/>
          <p:nvPr/>
        </p:nvSpPr>
        <p:spPr>
          <a:xfrm>
            <a:off x="365760" y="1536192"/>
            <a:ext cx="8412480" cy="566928"/>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536192"/>
            <a:ext cx="54864" cy="56692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72768"/>
            <a:ext cx="1188720" cy="256032"/>
          </a:xfrm>
          <a:prstGeom prst="rect">
            <a:avLst/>
          </a:prstGeom>
          <a:noFill/>
        </p:spPr>
        <p:txBody>
          <a:bodyPr wrap="square">
            <a:spAutoFit/>
          </a:bodyPr>
          <a:lstStyle/>
          <a:p>
            <a:pPr algn="l"/>
            <a:r>
              <a:rPr sz="900" b="1" i="0">
                <a:solidFill>
                  <a:srgbClr val="007ACC"/>
                </a:solidFill>
              </a:rPr>
              <a:t>力反馈传感</a:t>
            </a:r>
          </a:p>
        </p:txBody>
      </p:sp>
      <p:sp>
        <p:nvSpPr>
          <p:cNvPr id="16" name="TextBox 15"/>
          <p:cNvSpPr txBox="1"/>
          <p:nvPr/>
        </p:nvSpPr>
        <p:spPr>
          <a:xfrm>
            <a:off x="1691640" y="1572768"/>
            <a:ext cx="1920240" cy="502920"/>
          </a:xfrm>
          <a:prstGeom prst="rect">
            <a:avLst/>
          </a:prstGeom>
          <a:noFill/>
        </p:spPr>
        <p:txBody>
          <a:bodyPr wrap="square">
            <a:spAutoFit/>
          </a:bodyPr>
          <a:lstStyle/>
          <a:p>
            <a:pPr algn="l"/>
            <a:r>
              <a:rPr sz="800" b="0" i="0">
                <a:solidFill>
                  <a:srgbClr val="1A2E4A"/>
                </a:solidFill>
              </a:rPr>
              <a:t>US20240122123A1 等
多轴力传感器+校准</a:t>
            </a:r>
          </a:p>
        </p:txBody>
      </p:sp>
      <p:sp>
        <p:nvSpPr>
          <p:cNvPr id="17" name="TextBox 16"/>
          <p:cNvSpPr txBox="1"/>
          <p:nvPr/>
        </p:nvSpPr>
        <p:spPr>
          <a:xfrm>
            <a:off x="6446520" y="1572768"/>
            <a:ext cx="2103120" cy="502920"/>
          </a:xfrm>
          <a:prstGeom prst="rect">
            <a:avLst/>
          </a:prstGeom>
          <a:noFill/>
        </p:spPr>
        <p:txBody>
          <a:bodyPr wrap="square">
            <a:spAutoFit/>
          </a:bodyPr>
          <a:lstStyle/>
          <a:p>
            <a:pPr algn="l"/>
            <a:r>
              <a:rPr sz="850" b="1" i="0">
                <a:solidFill>
                  <a:srgbClr val="217A45"/>
                </a:solidFill>
              </a:rPr>
              <a:t>施力减少43%
降低组织损伤</a:t>
            </a:r>
          </a:p>
        </p:txBody>
      </p:sp>
      <p:sp>
        <p:nvSpPr>
          <p:cNvPr id="18" name="Rectangle 17"/>
          <p:cNvSpPr/>
          <p:nvPr/>
        </p:nvSpPr>
        <p:spPr>
          <a:xfrm>
            <a:off x="365760" y="2103120"/>
            <a:ext cx="84124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103120"/>
            <a:ext cx="54864" cy="56692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139696"/>
            <a:ext cx="1188720" cy="256032"/>
          </a:xfrm>
          <a:prstGeom prst="rect">
            <a:avLst/>
          </a:prstGeom>
          <a:noFill/>
        </p:spPr>
        <p:txBody>
          <a:bodyPr wrap="square">
            <a:spAutoFit/>
          </a:bodyPr>
          <a:lstStyle/>
          <a:p>
            <a:pPr algn="l"/>
            <a:r>
              <a:rPr sz="900" b="1" i="0">
                <a:solidFill>
                  <a:srgbClr val="00B0A0"/>
                </a:solidFill>
              </a:rPr>
              <a:t>3D 成像系统</a:t>
            </a:r>
          </a:p>
        </p:txBody>
      </p:sp>
      <p:sp>
        <p:nvSpPr>
          <p:cNvPr id="21" name="TextBox 20"/>
          <p:cNvSpPr txBox="1"/>
          <p:nvPr/>
        </p:nvSpPr>
        <p:spPr>
          <a:xfrm>
            <a:off x="1691640" y="2139696"/>
            <a:ext cx="1920240" cy="502920"/>
          </a:xfrm>
          <a:prstGeom prst="rect">
            <a:avLst/>
          </a:prstGeom>
          <a:noFill/>
        </p:spPr>
        <p:txBody>
          <a:bodyPr wrap="square">
            <a:spAutoFit/>
          </a:bodyPr>
          <a:lstStyle/>
          <a:p>
            <a:pPr algn="l"/>
            <a:r>
              <a:rPr sz="800" b="0" i="0">
                <a:solidFill>
                  <a:srgbClr val="1A2E4A"/>
                </a:solidFill>
              </a:rPr>
              <a:t>US20240165538A1 等
AI实时图像增强+深度估计</a:t>
            </a:r>
          </a:p>
        </p:txBody>
      </p:sp>
      <p:sp>
        <p:nvSpPr>
          <p:cNvPr id="22" name="TextBox 21"/>
          <p:cNvSpPr txBox="1"/>
          <p:nvPr/>
        </p:nvSpPr>
        <p:spPr>
          <a:xfrm>
            <a:off x="6446520" y="2139696"/>
            <a:ext cx="2103120" cy="502920"/>
          </a:xfrm>
          <a:prstGeom prst="rect">
            <a:avLst/>
          </a:prstGeom>
          <a:noFill/>
        </p:spPr>
        <p:txBody>
          <a:bodyPr wrap="square">
            <a:spAutoFit/>
          </a:bodyPr>
          <a:lstStyle/>
          <a:p>
            <a:pPr algn="l"/>
            <a:r>
              <a:rPr sz="850" b="1" i="0">
                <a:solidFill>
                  <a:srgbClr val="217A45"/>
                </a:solidFill>
              </a:rPr>
              <a:t>术野清晰度↑
精准解剖识别</a:t>
            </a:r>
          </a:p>
        </p:txBody>
      </p:sp>
      <p:sp>
        <p:nvSpPr>
          <p:cNvPr id="23" name="Rectangle 22"/>
          <p:cNvSpPr/>
          <p:nvPr/>
        </p:nvSpPr>
        <p:spPr>
          <a:xfrm>
            <a:off x="365760" y="2670048"/>
            <a:ext cx="8412480" cy="566928"/>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670048"/>
            <a:ext cx="54864" cy="566928"/>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2706624"/>
            <a:ext cx="1188720" cy="256032"/>
          </a:xfrm>
          <a:prstGeom prst="rect">
            <a:avLst/>
          </a:prstGeom>
          <a:noFill/>
        </p:spPr>
        <p:txBody>
          <a:bodyPr wrap="square">
            <a:spAutoFit/>
          </a:bodyPr>
          <a:lstStyle/>
          <a:p>
            <a:pPr algn="l"/>
            <a:r>
              <a:rPr sz="900" b="1" i="0">
                <a:solidFill>
                  <a:srgbClr val="6A0D9B"/>
                </a:solidFill>
              </a:rPr>
              <a:t>AI 手术洞察</a:t>
            </a:r>
          </a:p>
        </p:txBody>
      </p:sp>
      <p:sp>
        <p:nvSpPr>
          <p:cNvPr id="26" name="TextBox 25"/>
          <p:cNvSpPr txBox="1"/>
          <p:nvPr/>
        </p:nvSpPr>
        <p:spPr>
          <a:xfrm>
            <a:off x="1691640" y="2706624"/>
            <a:ext cx="1920240" cy="502920"/>
          </a:xfrm>
          <a:prstGeom prst="rect">
            <a:avLst/>
          </a:prstGeom>
          <a:noFill/>
        </p:spPr>
        <p:txBody>
          <a:bodyPr wrap="square">
            <a:spAutoFit/>
          </a:bodyPr>
          <a:lstStyle/>
          <a:p>
            <a:pPr algn="l"/>
            <a:r>
              <a:rPr sz="800" b="0" i="0">
                <a:solidFill>
                  <a:srgbClr val="1A2E4A"/>
                </a:solidFill>
              </a:rPr>
              <a:t>US20240198624A1 等
多模态手术阶段分割+云端</a:t>
            </a:r>
          </a:p>
        </p:txBody>
      </p:sp>
      <p:sp>
        <p:nvSpPr>
          <p:cNvPr id="27" name="TextBox 26"/>
          <p:cNvSpPr txBox="1"/>
          <p:nvPr/>
        </p:nvSpPr>
        <p:spPr>
          <a:xfrm>
            <a:off x="6446520" y="2706624"/>
            <a:ext cx="2103120" cy="502920"/>
          </a:xfrm>
          <a:prstGeom prst="rect">
            <a:avLst/>
          </a:prstGeom>
          <a:noFill/>
        </p:spPr>
        <p:txBody>
          <a:bodyPr wrap="square">
            <a:spAutoFit/>
          </a:bodyPr>
          <a:lstStyle/>
          <a:p>
            <a:pPr algn="l"/>
            <a:r>
              <a:rPr sz="850" b="1" i="0">
                <a:solidFill>
                  <a:srgbClr val="217A45"/>
                </a:solidFill>
              </a:rPr>
              <a:t>术后分析数字化
技能培训升级</a:t>
            </a:r>
          </a:p>
        </p:txBody>
      </p:sp>
      <p:sp>
        <p:nvSpPr>
          <p:cNvPr id="28" name="Rectangle 27"/>
          <p:cNvSpPr/>
          <p:nvPr/>
        </p:nvSpPr>
        <p:spPr>
          <a:xfrm>
            <a:off x="365760" y="3236976"/>
            <a:ext cx="84124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236976"/>
            <a:ext cx="54864" cy="566928"/>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273552"/>
            <a:ext cx="1188720" cy="256032"/>
          </a:xfrm>
          <a:prstGeom prst="rect">
            <a:avLst/>
          </a:prstGeom>
          <a:noFill/>
        </p:spPr>
        <p:txBody>
          <a:bodyPr wrap="square">
            <a:spAutoFit/>
          </a:bodyPr>
          <a:lstStyle/>
          <a:p>
            <a:pPr algn="l"/>
            <a:r>
              <a:rPr sz="900" b="1" i="0">
                <a:solidFill>
                  <a:srgbClr val="002D6A"/>
                </a:solidFill>
              </a:rPr>
              <a:t>先进计算平台</a:t>
            </a:r>
          </a:p>
        </p:txBody>
      </p:sp>
      <p:sp>
        <p:nvSpPr>
          <p:cNvPr id="31" name="TextBox 30"/>
          <p:cNvSpPr txBox="1"/>
          <p:nvPr/>
        </p:nvSpPr>
        <p:spPr>
          <a:xfrm>
            <a:off x="1691640" y="3273552"/>
            <a:ext cx="1920240" cy="502920"/>
          </a:xfrm>
          <a:prstGeom prst="rect">
            <a:avLst/>
          </a:prstGeom>
          <a:noFill/>
        </p:spPr>
        <p:txBody>
          <a:bodyPr wrap="square">
            <a:spAutoFit/>
          </a:bodyPr>
          <a:lstStyle/>
          <a:p>
            <a:pPr algn="l"/>
            <a:r>
              <a:rPr sz="800" b="0" i="0">
                <a:solidFill>
                  <a:srgbClr val="1A2E4A"/>
                </a:solidFill>
              </a:rPr>
              <a:t>US20240225501A1 等
Blackwell GPU+实时AI推理</a:t>
            </a:r>
          </a:p>
        </p:txBody>
      </p:sp>
      <p:sp>
        <p:nvSpPr>
          <p:cNvPr id="32" name="TextBox 31"/>
          <p:cNvSpPr txBox="1"/>
          <p:nvPr/>
        </p:nvSpPr>
        <p:spPr>
          <a:xfrm>
            <a:off x="6446520" y="3273552"/>
            <a:ext cx="2103120" cy="502920"/>
          </a:xfrm>
          <a:prstGeom prst="rect">
            <a:avLst/>
          </a:prstGeom>
          <a:noFill/>
        </p:spPr>
        <p:txBody>
          <a:bodyPr wrap="square">
            <a:spAutoFit/>
          </a:bodyPr>
          <a:lstStyle/>
          <a:p>
            <a:pPr algn="l"/>
            <a:r>
              <a:rPr sz="850" b="1" i="0">
                <a:solidFill>
                  <a:srgbClr val="217A45"/>
                </a:solidFill>
              </a:rPr>
              <a:t>万倍算力↑
亚毫秒级响应</a:t>
            </a:r>
          </a:p>
        </p:txBody>
      </p:sp>
      <p:sp>
        <p:nvSpPr>
          <p:cNvPr id="33" name="Rectangle 32"/>
          <p:cNvSpPr/>
          <p:nvPr/>
        </p:nvSpPr>
        <p:spPr>
          <a:xfrm>
            <a:off x="365760" y="3803904"/>
            <a:ext cx="8412480" cy="566928"/>
          </a:xfrm>
          <a:prstGeom prst="rect">
            <a:avLst/>
          </a:prstGeom>
          <a:solidFill>
            <a:srgbClr val="F0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3803904"/>
            <a:ext cx="54864" cy="566928"/>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40480"/>
            <a:ext cx="1188720" cy="256032"/>
          </a:xfrm>
          <a:prstGeom prst="rect">
            <a:avLst/>
          </a:prstGeom>
          <a:noFill/>
        </p:spPr>
        <p:txBody>
          <a:bodyPr wrap="square">
            <a:spAutoFit/>
          </a:bodyPr>
          <a:lstStyle/>
          <a:p>
            <a:pPr algn="l"/>
            <a:r>
              <a:rPr sz="900" b="1" i="0">
                <a:solidFill>
                  <a:srgbClr val="D03232"/>
                </a:solidFill>
              </a:rPr>
              <a:t>器械与内窥镜控制</a:t>
            </a:r>
          </a:p>
        </p:txBody>
      </p:sp>
      <p:sp>
        <p:nvSpPr>
          <p:cNvPr id="36" name="TextBox 35"/>
          <p:cNvSpPr txBox="1"/>
          <p:nvPr/>
        </p:nvSpPr>
        <p:spPr>
          <a:xfrm>
            <a:off x="1691640" y="3840480"/>
            <a:ext cx="1920240" cy="502920"/>
          </a:xfrm>
          <a:prstGeom prst="rect">
            <a:avLst/>
          </a:prstGeom>
          <a:noFill/>
        </p:spPr>
        <p:txBody>
          <a:bodyPr wrap="square">
            <a:spAutoFit/>
          </a:bodyPr>
          <a:lstStyle/>
          <a:p>
            <a:pPr algn="l"/>
            <a:r>
              <a:rPr sz="800" b="0" i="0">
                <a:solidFill>
                  <a:srgbClr val="1A2E4A"/>
                </a:solidFill>
              </a:rPr>
              <a:t>US20240207251A1 等
力传感+能量器械+防碰撞</a:t>
            </a:r>
          </a:p>
        </p:txBody>
      </p:sp>
      <p:sp>
        <p:nvSpPr>
          <p:cNvPr id="37" name="TextBox 36"/>
          <p:cNvSpPr txBox="1"/>
          <p:nvPr/>
        </p:nvSpPr>
        <p:spPr>
          <a:xfrm>
            <a:off x="6446520" y="3840480"/>
            <a:ext cx="2103120" cy="502920"/>
          </a:xfrm>
          <a:prstGeom prst="rect">
            <a:avLst/>
          </a:prstGeom>
          <a:noFill/>
        </p:spPr>
        <p:txBody>
          <a:bodyPr wrap="square">
            <a:spAutoFit/>
          </a:bodyPr>
          <a:lstStyle/>
          <a:p>
            <a:pPr algn="l"/>
            <a:r>
              <a:rPr sz="850" b="1" i="0">
                <a:solidFill>
                  <a:srgbClr val="217A45"/>
                </a:solidFill>
              </a:rPr>
              <a:t>手术安全性↑
并发症率↓</a:t>
            </a:r>
          </a:p>
        </p:txBody>
      </p:sp>
      <p:sp>
        <p:nvSpPr>
          <p:cNvPr id="38" name="TextBox 37"/>
          <p:cNvSpPr txBox="1"/>
          <p:nvPr/>
        </p:nvSpPr>
        <p:spPr>
          <a:xfrm>
            <a:off x="365760" y="4434840"/>
            <a:ext cx="8229600" cy="274320"/>
          </a:xfrm>
          <a:prstGeom prst="rect">
            <a:avLst/>
          </a:prstGeom>
          <a:noFill/>
        </p:spPr>
        <p:txBody>
          <a:bodyPr wrap="square">
            <a:spAutoFit/>
          </a:bodyPr>
          <a:lstStyle/>
          <a:p>
            <a:pPr algn="l"/>
            <a:r>
              <a:rPr sz="1200" b="1" i="0">
                <a:solidFill>
                  <a:srgbClr val="002D6A"/>
                </a:solidFill>
              </a:rPr>
              <a:t>直觉外科 Da Vinci 5 专利战略核心逻辑</a:t>
            </a:r>
          </a:p>
        </p:txBody>
      </p:sp>
      <p:sp>
        <p:nvSpPr>
          <p:cNvPr id="39" name="Rectangle 38"/>
          <p:cNvSpPr/>
          <p:nvPr/>
        </p:nvSpPr>
        <p:spPr>
          <a:xfrm>
            <a:off x="365760" y="4773168"/>
            <a:ext cx="274320" cy="21945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754880"/>
            <a:ext cx="640080" cy="274320"/>
          </a:xfrm>
          <a:prstGeom prst="rect">
            <a:avLst/>
          </a:prstGeom>
          <a:noFill/>
        </p:spPr>
        <p:txBody>
          <a:bodyPr wrap="square">
            <a:spAutoFit/>
          </a:bodyPr>
          <a:lstStyle/>
          <a:p>
            <a:pPr algn="l"/>
            <a:r>
              <a:rPr sz="900" b="1" i="0">
                <a:solidFill>
                  <a:srgbClr val="1A2E4A"/>
                </a:solidFill>
              </a:rPr>
              <a:t>平台化壁垒:</a:t>
            </a:r>
          </a:p>
        </p:txBody>
      </p:sp>
      <p:sp>
        <p:nvSpPr>
          <p:cNvPr id="41" name="TextBox 40"/>
          <p:cNvSpPr txBox="1"/>
          <p:nvPr/>
        </p:nvSpPr>
        <p:spPr>
          <a:xfrm>
            <a:off x="1371600" y="4754880"/>
            <a:ext cx="3200400" cy="274320"/>
          </a:xfrm>
          <a:prstGeom prst="rect">
            <a:avLst/>
          </a:prstGeom>
          <a:noFill/>
        </p:spPr>
        <p:txBody>
          <a:bodyPr wrap="square">
            <a:spAutoFit/>
          </a:bodyPr>
          <a:lstStyle/>
          <a:p>
            <a:pPr algn="l"/>
            <a:r>
              <a:rPr sz="850" b="0" i="0">
                <a:solidFill>
                  <a:srgbClr val="445566"/>
                </a:solidFill>
              </a:rPr>
              <a:t>计算平台统一架构延长产品生命周期，边际成本趋零</a:t>
            </a:r>
          </a:p>
        </p:txBody>
      </p:sp>
      <p:sp>
        <p:nvSpPr>
          <p:cNvPr id="42" name="Rectangle 41"/>
          <p:cNvSpPr/>
          <p:nvPr/>
        </p:nvSpPr>
        <p:spPr>
          <a:xfrm>
            <a:off x="4663440" y="4773168"/>
            <a:ext cx="274320" cy="219456"/>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0912" y="4754880"/>
            <a:ext cx="640080" cy="274320"/>
          </a:xfrm>
          <a:prstGeom prst="rect">
            <a:avLst/>
          </a:prstGeom>
          <a:noFill/>
        </p:spPr>
        <p:txBody>
          <a:bodyPr wrap="square">
            <a:spAutoFit/>
          </a:bodyPr>
          <a:lstStyle/>
          <a:p>
            <a:pPr algn="l"/>
            <a:r>
              <a:rPr sz="900" b="1" i="0">
                <a:solidFill>
                  <a:srgbClr val="1A2E4A"/>
                </a:solidFill>
              </a:rPr>
              <a:t>AI 数据护城河:</a:t>
            </a:r>
          </a:p>
        </p:txBody>
      </p:sp>
      <p:sp>
        <p:nvSpPr>
          <p:cNvPr id="44" name="TextBox 43"/>
          <p:cNvSpPr txBox="1"/>
          <p:nvPr/>
        </p:nvSpPr>
        <p:spPr>
          <a:xfrm>
            <a:off x="5669280" y="4754880"/>
            <a:ext cx="3200400" cy="274320"/>
          </a:xfrm>
          <a:prstGeom prst="rect">
            <a:avLst/>
          </a:prstGeom>
          <a:noFill/>
        </p:spPr>
        <p:txBody>
          <a:bodyPr wrap="square">
            <a:spAutoFit/>
          </a:bodyPr>
          <a:lstStyle/>
          <a:p>
            <a:pPr algn="l"/>
            <a:r>
              <a:rPr sz="850" b="0" i="0">
                <a:solidFill>
                  <a:srgbClr val="445566"/>
                </a:solidFill>
              </a:rPr>
              <a:t>全球700万+手术数据积累，联邦学习持续优化AI模型</a:t>
            </a:r>
          </a:p>
        </p:txBody>
      </p:sp>
      <p:sp>
        <p:nvSpPr>
          <p:cNvPr id="45" name="Rectangle 44"/>
          <p:cNvSpPr/>
          <p:nvPr/>
        </p:nvSpPr>
        <p:spPr>
          <a:xfrm>
            <a:off x="365760" y="5120640"/>
            <a:ext cx="274320" cy="219456"/>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5102352"/>
            <a:ext cx="640080" cy="274320"/>
          </a:xfrm>
          <a:prstGeom prst="rect">
            <a:avLst/>
          </a:prstGeom>
          <a:noFill/>
        </p:spPr>
        <p:txBody>
          <a:bodyPr wrap="square">
            <a:spAutoFit/>
          </a:bodyPr>
          <a:lstStyle/>
          <a:p>
            <a:pPr algn="l"/>
            <a:r>
              <a:rPr sz="900" b="1" i="0">
                <a:solidFill>
                  <a:srgbClr val="1A2E4A"/>
                </a:solidFill>
              </a:rPr>
              <a:t>功能常青化:</a:t>
            </a:r>
          </a:p>
        </p:txBody>
      </p:sp>
      <p:sp>
        <p:nvSpPr>
          <p:cNvPr id="47" name="TextBox 46"/>
          <p:cNvSpPr txBox="1"/>
          <p:nvPr/>
        </p:nvSpPr>
        <p:spPr>
          <a:xfrm>
            <a:off x="1371600" y="5102352"/>
            <a:ext cx="3200400" cy="274320"/>
          </a:xfrm>
          <a:prstGeom prst="rect">
            <a:avLst/>
          </a:prstGeom>
          <a:noFill/>
        </p:spPr>
        <p:txBody>
          <a:bodyPr wrap="square">
            <a:spAutoFit/>
          </a:bodyPr>
          <a:lstStyle/>
          <a:p>
            <a:pPr algn="l"/>
            <a:r>
              <a:rPr sz="850" b="0" i="0">
                <a:solidFill>
                  <a:srgbClr val="445566"/>
                </a:solidFill>
              </a:rPr>
              <a:t>软件持续更新（新功能Force Gauge/Video Replay），延长器械生命周期价值</a:t>
            </a:r>
          </a:p>
        </p:txBody>
      </p:sp>
      <p:sp>
        <p:nvSpPr>
          <p:cNvPr id="48" name="Rectangle 47"/>
          <p:cNvSpPr/>
          <p:nvPr/>
        </p:nvSpPr>
        <p:spPr>
          <a:xfrm>
            <a:off x="4663440" y="5120640"/>
            <a:ext cx="274320" cy="219456"/>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10912" y="5102352"/>
            <a:ext cx="640080" cy="274320"/>
          </a:xfrm>
          <a:prstGeom prst="rect">
            <a:avLst/>
          </a:prstGeom>
          <a:noFill/>
        </p:spPr>
        <p:txBody>
          <a:bodyPr wrap="square">
            <a:spAutoFit/>
          </a:bodyPr>
          <a:lstStyle/>
          <a:p>
            <a:pPr algn="l"/>
            <a:r>
              <a:rPr sz="900" b="1" i="0">
                <a:solidFill>
                  <a:srgbClr val="1A2E4A"/>
                </a:solidFill>
              </a:rPr>
              <a:t>多适应症覆盖:</a:t>
            </a:r>
          </a:p>
        </p:txBody>
      </p:sp>
      <p:sp>
        <p:nvSpPr>
          <p:cNvPr id="50" name="TextBox 49"/>
          <p:cNvSpPr txBox="1"/>
          <p:nvPr/>
        </p:nvSpPr>
        <p:spPr>
          <a:xfrm>
            <a:off x="5669280" y="5102352"/>
            <a:ext cx="3200400" cy="274320"/>
          </a:xfrm>
          <a:prstGeom prst="rect">
            <a:avLst/>
          </a:prstGeom>
          <a:noFill/>
        </p:spPr>
        <p:txBody>
          <a:bodyPr wrap="square">
            <a:spAutoFit/>
          </a:bodyPr>
          <a:lstStyle/>
          <a:p>
            <a:pPr algn="l"/>
            <a:r>
              <a:rPr sz="850" b="0" i="0">
                <a:solidFill>
                  <a:srgbClr val="445566"/>
                </a:solidFill>
              </a:rPr>
              <a:t>泌尿/妇科/普外/胸外/心脏，手术机器人全科化布局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3A"/>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002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8412480" cy="502920"/>
          </a:xfrm>
          <a:prstGeom prst="rect">
            <a:avLst/>
          </a:prstGeom>
          <a:noFill/>
        </p:spPr>
        <p:txBody>
          <a:bodyPr wrap="square">
            <a:spAutoFit/>
          </a:bodyPr>
          <a:lstStyle/>
          <a:p>
            <a:pPr algn="l"/>
            <a:r>
              <a:rPr sz="2200" b="1" i="0">
                <a:solidFill>
                  <a:srgbClr val="FFFFFF"/>
                </a:solidFill>
              </a:rPr>
              <a:t>10  总结与未来趋势  Summary &amp; Future Outlook</a:t>
            </a:r>
          </a:p>
        </p:txBody>
      </p:sp>
      <p:sp>
        <p:nvSpPr>
          <p:cNvPr id="4" name="TextBox 3"/>
          <p:cNvSpPr txBox="1"/>
          <p:nvPr/>
        </p:nvSpPr>
        <p:spPr>
          <a:xfrm>
            <a:off x="365760" y="1097280"/>
            <a:ext cx="3931920" cy="320040"/>
          </a:xfrm>
          <a:prstGeom prst="rect">
            <a:avLst/>
          </a:prstGeom>
          <a:noFill/>
        </p:spPr>
        <p:txBody>
          <a:bodyPr wrap="square">
            <a:spAutoFit/>
          </a:bodyPr>
          <a:lstStyle/>
          <a:p>
            <a:pPr algn="l"/>
            <a:r>
              <a:rPr sz="1400" b="1" i="0">
                <a:solidFill>
                  <a:srgbClr val="007ACC"/>
                </a:solidFill>
              </a:rPr>
              <a:t>核心发现</a:t>
            </a:r>
          </a:p>
        </p:txBody>
      </p:sp>
      <p:sp>
        <p:nvSpPr>
          <p:cNvPr id="5" name="Rectangle 4"/>
          <p:cNvSpPr/>
          <p:nvPr/>
        </p:nvSpPr>
        <p:spPr>
          <a:xfrm>
            <a:off x="365760" y="1499616"/>
            <a:ext cx="347472"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9616"/>
            <a:ext cx="347472" cy="292608"/>
          </a:xfrm>
          <a:prstGeom prst="rect">
            <a:avLst/>
          </a:prstGeom>
          <a:noFill/>
        </p:spPr>
        <p:txBody>
          <a:bodyPr wrap="square">
            <a:spAutoFit/>
          </a:bodyPr>
          <a:lstStyle/>
          <a:p>
            <a:pPr algn="ctr"/>
            <a:r>
              <a:rPr sz="1200" b="1" i="0">
                <a:solidFill>
                  <a:srgbClr val="FFFFFF"/>
                </a:solidFill>
              </a:rPr>
              <a:t>1</a:t>
            </a:r>
          </a:p>
        </p:txBody>
      </p:sp>
      <p:sp>
        <p:nvSpPr>
          <p:cNvPr id="7" name="TextBox 6"/>
          <p:cNvSpPr txBox="1"/>
          <p:nvPr/>
        </p:nvSpPr>
        <p:spPr>
          <a:xfrm>
            <a:off x="804672" y="1490472"/>
            <a:ext cx="3840480" cy="502920"/>
          </a:xfrm>
          <a:prstGeom prst="rect">
            <a:avLst/>
          </a:prstGeom>
          <a:noFill/>
        </p:spPr>
        <p:txBody>
          <a:bodyPr wrap="square">
            <a:spAutoFit/>
          </a:bodyPr>
          <a:lstStyle/>
          <a:p>
            <a:pPr algn="l"/>
            <a:r>
              <a:rPr sz="950" b="0" i="0">
                <a:solidFill>
                  <a:srgbClr val="CCDDEE"/>
                </a:solidFill>
              </a:rPr>
              <a:t>Da Vinci 5 是直觉外科20年技术积累的集大成者，引入力反馈+万倍算力+AI三大平台级创新</a:t>
            </a:r>
          </a:p>
        </p:txBody>
      </p:sp>
      <p:sp>
        <p:nvSpPr>
          <p:cNvPr id="8" name="Rectangle 7"/>
          <p:cNvSpPr/>
          <p:nvPr/>
        </p:nvSpPr>
        <p:spPr>
          <a:xfrm>
            <a:off x="365760" y="2066544"/>
            <a:ext cx="347472" cy="292608"/>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066544"/>
            <a:ext cx="347472" cy="292608"/>
          </a:xfrm>
          <a:prstGeom prst="rect">
            <a:avLst/>
          </a:prstGeom>
          <a:noFill/>
        </p:spPr>
        <p:txBody>
          <a:bodyPr wrap="square">
            <a:spAutoFit/>
          </a:bodyPr>
          <a:lstStyle/>
          <a:p>
            <a:pPr algn="ctr"/>
            <a:r>
              <a:rPr sz="1200" b="1" i="0">
                <a:solidFill>
                  <a:srgbClr val="FFFFFF"/>
                </a:solidFill>
              </a:rPr>
              <a:t>2</a:t>
            </a:r>
          </a:p>
        </p:txBody>
      </p:sp>
      <p:sp>
        <p:nvSpPr>
          <p:cNvPr id="10" name="TextBox 9"/>
          <p:cNvSpPr txBox="1"/>
          <p:nvPr/>
        </p:nvSpPr>
        <p:spPr>
          <a:xfrm>
            <a:off x="804672" y="2057400"/>
            <a:ext cx="3840480" cy="502920"/>
          </a:xfrm>
          <a:prstGeom prst="rect">
            <a:avLst/>
          </a:prstGeom>
          <a:noFill/>
        </p:spPr>
        <p:txBody>
          <a:bodyPr wrap="square">
            <a:spAutoFit/>
          </a:bodyPr>
          <a:lstStyle/>
          <a:p>
            <a:pPr algn="l"/>
            <a:r>
              <a:rPr sz="950" b="0" i="0">
                <a:solidFill>
                  <a:srgbClr val="CCDDEE"/>
                </a:solidFill>
              </a:rPr>
              <a:t>专利布局从机械硬件主导转向"AI+数据+算力"三维驱动，竞争壁垒持续升级</a:t>
            </a:r>
          </a:p>
        </p:txBody>
      </p:sp>
      <p:sp>
        <p:nvSpPr>
          <p:cNvPr id="11" name="Rectangle 10"/>
          <p:cNvSpPr/>
          <p:nvPr/>
        </p:nvSpPr>
        <p:spPr>
          <a:xfrm>
            <a:off x="365760" y="2633472"/>
            <a:ext cx="347472" cy="292608"/>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33472"/>
            <a:ext cx="347472" cy="292608"/>
          </a:xfrm>
          <a:prstGeom prst="rect">
            <a:avLst/>
          </a:prstGeom>
          <a:noFill/>
        </p:spPr>
        <p:txBody>
          <a:bodyPr wrap="square">
            <a:spAutoFit/>
          </a:bodyPr>
          <a:lstStyle/>
          <a:p>
            <a:pPr algn="ctr"/>
            <a:r>
              <a:rPr sz="1200" b="1" i="0">
                <a:solidFill>
                  <a:srgbClr val="FFFFFF"/>
                </a:solidFill>
              </a:rPr>
              <a:t>3</a:t>
            </a:r>
          </a:p>
        </p:txBody>
      </p:sp>
      <p:sp>
        <p:nvSpPr>
          <p:cNvPr id="13" name="TextBox 12"/>
          <p:cNvSpPr txBox="1"/>
          <p:nvPr/>
        </p:nvSpPr>
        <p:spPr>
          <a:xfrm>
            <a:off x="804672" y="2624328"/>
            <a:ext cx="3840480" cy="502920"/>
          </a:xfrm>
          <a:prstGeom prst="rect">
            <a:avLst/>
          </a:prstGeom>
          <a:noFill/>
        </p:spPr>
        <p:txBody>
          <a:bodyPr wrap="square">
            <a:spAutoFit/>
          </a:bodyPr>
          <a:lstStyle/>
          <a:p>
            <a:pPr algn="l"/>
            <a:r>
              <a:rPr sz="950" b="0" i="0">
                <a:solidFill>
                  <a:srgbClr val="CCDDEE"/>
                </a:solidFill>
              </a:rPr>
              <a:t>力反馈专利是达芬奇5最具颠覆性的技术突破，填补了商业化手术机器人触觉感知的空白</a:t>
            </a:r>
          </a:p>
        </p:txBody>
      </p:sp>
      <p:sp>
        <p:nvSpPr>
          <p:cNvPr id="14" name="Rectangle 13"/>
          <p:cNvSpPr/>
          <p:nvPr/>
        </p:nvSpPr>
        <p:spPr>
          <a:xfrm>
            <a:off x="365760" y="3200400"/>
            <a:ext cx="347472" cy="292608"/>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200400"/>
            <a:ext cx="347472" cy="292608"/>
          </a:xfrm>
          <a:prstGeom prst="rect">
            <a:avLst/>
          </a:prstGeom>
          <a:noFill/>
        </p:spPr>
        <p:txBody>
          <a:bodyPr wrap="square">
            <a:spAutoFit/>
          </a:bodyPr>
          <a:lstStyle/>
          <a:p>
            <a:pPr algn="ctr"/>
            <a:r>
              <a:rPr sz="1200" b="1" i="0">
                <a:solidFill>
                  <a:srgbClr val="FFFFFF"/>
                </a:solidFill>
              </a:rPr>
              <a:t>4</a:t>
            </a:r>
          </a:p>
        </p:txBody>
      </p:sp>
      <p:sp>
        <p:nvSpPr>
          <p:cNvPr id="16" name="TextBox 15"/>
          <p:cNvSpPr txBox="1"/>
          <p:nvPr/>
        </p:nvSpPr>
        <p:spPr>
          <a:xfrm>
            <a:off x="804672" y="3191256"/>
            <a:ext cx="3840480" cy="502920"/>
          </a:xfrm>
          <a:prstGeom prst="rect">
            <a:avLst/>
          </a:prstGeom>
          <a:noFill/>
        </p:spPr>
        <p:txBody>
          <a:bodyPr wrap="square">
            <a:spAutoFit/>
          </a:bodyPr>
          <a:lstStyle/>
          <a:p>
            <a:pPr algn="l"/>
            <a:r>
              <a:rPr sz="950" b="0" i="0">
                <a:solidFill>
                  <a:srgbClr val="CCDDEE"/>
                </a:solidFill>
              </a:rPr>
              <a:t>Case Insights AI平台将手术数据转化为长期竞争资产，数据飞轮效应已经启动</a:t>
            </a:r>
          </a:p>
        </p:txBody>
      </p:sp>
      <p:sp>
        <p:nvSpPr>
          <p:cNvPr id="17" name="Rectangle 16"/>
          <p:cNvSpPr/>
          <p:nvPr/>
        </p:nvSpPr>
        <p:spPr>
          <a:xfrm>
            <a:off x="365760" y="3767328"/>
            <a:ext cx="347472" cy="292608"/>
          </a:xfrm>
          <a:prstGeom prst="rect">
            <a:avLst/>
          </a:prstGeom>
          <a:solidFill>
            <a:srgbClr val="21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767328"/>
            <a:ext cx="347472" cy="292608"/>
          </a:xfrm>
          <a:prstGeom prst="rect">
            <a:avLst/>
          </a:prstGeom>
          <a:noFill/>
        </p:spPr>
        <p:txBody>
          <a:bodyPr wrap="square">
            <a:spAutoFit/>
          </a:bodyPr>
          <a:lstStyle/>
          <a:p>
            <a:pPr algn="ctr"/>
            <a:r>
              <a:rPr sz="1200" b="1" i="0">
                <a:solidFill>
                  <a:srgbClr val="FFFFFF"/>
                </a:solidFill>
              </a:rPr>
              <a:t>5</a:t>
            </a:r>
          </a:p>
        </p:txBody>
      </p:sp>
      <p:sp>
        <p:nvSpPr>
          <p:cNvPr id="19" name="TextBox 18"/>
          <p:cNvSpPr txBox="1"/>
          <p:nvPr/>
        </p:nvSpPr>
        <p:spPr>
          <a:xfrm>
            <a:off x="804672" y="3758184"/>
            <a:ext cx="3840480" cy="502920"/>
          </a:xfrm>
          <a:prstGeom prst="rect">
            <a:avLst/>
          </a:prstGeom>
          <a:noFill/>
        </p:spPr>
        <p:txBody>
          <a:bodyPr wrap="square">
            <a:spAutoFit/>
          </a:bodyPr>
          <a:lstStyle/>
          <a:p>
            <a:pPr algn="l"/>
            <a:r>
              <a:rPr sz="950" b="0" i="0">
                <a:solidFill>
                  <a:srgbClr val="CCDDEE"/>
                </a:solidFill>
              </a:rPr>
              <a:t>与NVIDIA合作定制Blackwell GPU，计算架构开放与封闭并存，生态锁定加深</a:t>
            </a:r>
          </a:p>
        </p:txBody>
      </p:sp>
      <p:sp>
        <p:nvSpPr>
          <p:cNvPr id="20" name="TextBox 19"/>
          <p:cNvSpPr txBox="1"/>
          <p:nvPr/>
        </p:nvSpPr>
        <p:spPr>
          <a:xfrm>
            <a:off x="4846320" y="1097280"/>
            <a:ext cx="3931920" cy="320040"/>
          </a:xfrm>
          <a:prstGeom prst="rect">
            <a:avLst/>
          </a:prstGeom>
          <a:noFill/>
        </p:spPr>
        <p:txBody>
          <a:bodyPr wrap="square">
            <a:spAutoFit/>
          </a:bodyPr>
          <a:lstStyle/>
          <a:p>
            <a:pPr algn="l"/>
            <a:r>
              <a:rPr sz="1400" b="1" i="0">
                <a:solidFill>
                  <a:srgbClr val="007ACC"/>
                </a:solidFill>
              </a:rPr>
              <a:t>未来趋势</a:t>
            </a:r>
          </a:p>
        </p:txBody>
      </p:sp>
      <p:sp>
        <p:nvSpPr>
          <p:cNvPr id="21" name="Rectangle 20"/>
          <p:cNvSpPr/>
          <p:nvPr/>
        </p:nvSpPr>
        <p:spPr>
          <a:xfrm>
            <a:off x="4846320" y="1444752"/>
            <a:ext cx="54864"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1444752"/>
            <a:ext cx="3794760" cy="256032"/>
          </a:xfrm>
          <a:prstGeom prst="rect">
            <a:avLst/>
          </a:prstGeom>
          <a:noFill/>
        </p:spPr>
        <p:txBody>
          <a:bodyPr wrap="square">
            <a:spAutoFit/>
          </a:bodyPr>
          <a:lstStyle/>
          <a:p>
            <a:pPr algn="l"/>
            <a:r>
              <a:rPr sz="1000" b="1" i="0">
                <a:solidFill>
                  <a:srgbClr val="007ACC"/>
                </a:solidFill>
              </a:rPr>
              <a:t>自主手术推进</a:t>
            </a:r>
          </a:p>
        </p:txBody>
      </p:sp>
      <p:sp>
        <p:nvSpPr>
          <p:cNvPr id="23" name="TextBox 22"/>
          <p:cNvSpPr txBox="1"/>
          <p:nvPr/>
        </p:nvSpPr>
        <p:spPr>
          <a:xfrm>
            <a:off x="4983480" y="1700784"/>
            <a:ext cx="3794760" cy="384048"/>
          </a:xfrm>
          <a:prstGeom prst="rect">
            <a:avLst/>
          </a:prstGeom>
          <a:noFill/>
        </p:spPr>
        <p:txBody>
          <a:bodyPr wrap="square">
            <a:spAutoFit/>
          </a:bodyPr>
          <a:lstStyle/>
          <a:p>
            <a:pPr algn="l"/>
            <a:r>
              <a:rPr sz="850" b="0" i="0">
                <a:solidFill>
                  <a:srgbClr val="BBCCDD"/>
                </a:solidFill>
              </a:rPr>
              <a:t>力反馈+AI感知→运动规划→自动执行，手术机器人从辅助工具升级为协作智能体，2025-2030年将出现监督自主手术临床试验</a:t>
            </a:r>
          </a:p>
        </p:txBody>
      </p:sp>
      <p:sp>
        <p:nvSpPr>
          <p:cNvPr id="24" name="Rectangle 23"/>
          <p:cNvSpPr/>
          <p:nvPr/>
        </p:nvSpPr>
        <p:spPr>
          <a:xfrm>
            <a:off x="4846320" y="2139696"/>
            <a:ext cx="54864" cy="640080"/>
          </a:xfrm>
          <a:prstGeom prst="rect">
            <a:avLst/>
          </a:prstGeom>
          <a:solidFill>
            <a:srgbClr val="00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83480" y="2139696"/>
            <a:ext cx="3794760" cy="256032"/>
          </a:xfrm>
          <a:prstGeom prst="rect">
            <a:avLst/>
          </a:prstGeom>
          <a:noFill/>
        </p:spPr>
        <p:txBody>
          <a:bodyPr wrap="square">
            <a:spAutoFit/>
          </a:bodyPr>
          <a:lstStyle/>
          <a:p>
            <a:pPr algn="l"/>
            <a:r>
              <a:rPr sz="1000" b="1" i="0">
                <a:solidFill>
                  <a:srgbClr val="00B0A0"/>
                </a:solidFill>
              </a:rPr>
              <a:t>多模态融合</a:t>
            </a:r>
          </a:p>
        </p:txBody>
      </p:sp>
      <p:sp>
        <p:nvSpPr>
          <p:cNvPr id="26" name="TextBox 25"/>
          <p:cNvSpPr txBox="1"/>
          <p:nvPr/>
        </p:nvSpPr>
        <p:spPr>
          <a:xfrm>
            <a:off x="4983480" y="2395728"/>
            <a:ext cx="3794760" cy="384048"/>
          </a:xfrm>
          <a:prstGeom prst="rect">
            <a:avLst/>
          </a:prstGeom>
          <a:noFill/>
        </p:spPr>
        <p:txBody>
          <a:bodyPr wrap="square">
            <a:spAutoFit/>
          </a:bodyPr>
          <a:lstStyle/>
          <a:p>
            <a:pPr algn="l"/>
            <a:r>
              <a:rPr sz="850" b="0" i="0">
                <a:solidFill>
                  <a:srgbClr val="BBCCDD"/>
                </a:solidFill>
              </a:rPr>
              <a:t>术前CT/MRI+术中3D视觉+实时超声+荧光，数字孪生手术导航将成为下一个技术高地，相关专利争夺已悄然开始</a:t>
            </a:r>
          </a:p>
        </p:txBody>
      </p:sp>
      <p:sp>
        <p:nvSpPr>
          <p:cNvPr id="27" name="Rectangle 26"/>
          <p:cNvSpPr/>
          <p:nvPr/>
        </p:nvSpPr>
        <p:spPr>
          <a:xfrm>
            <a:off x="4846320" y="2834640"/>
            <a:ext cx="54864" cy="640080"/>
          </a:xfrm>
          <a:prstGeom prst="rect">
            <a:avLst/>
          </a:prstGeom>
          <a:solidFill>
            <a:srgbClr val="6A0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83480" y="2834640"/>
            <a:ext cx="3794760" cy="256032"/>
          </a:xfrm>
          <a:prstGeom prst="rect">
            <a:avLst/>
          </a:prstGeom>
          <a:noFill/>
        </p:spPr>
        <p:txBody>
          <a:bodyPr wrap="square">
            <a:spAutoFit/>
          </a:bodyPr>
          <a:lstStyle/>
          <a:p>
            <a:pPr algn="l"/>
            <a:r>
              <a:rPr sz="1000" b="1" i="0">
                <a:solidFill>
                  <a:srgbClr val="6A0D9B"/>
                </a:solidFill>
              </a:rPr>
              <a:t>单孔/自然腔道</a:t>
            </a:r>
          </a:p>
        </p:txBody>
      </p:sp>
      <p:sp>
        <p:nvSpPr>
          <p:cNvPr id="29" name="TextBox 28"/>
          <p:cNvSpPr txBox="1"/>
          <p:nvPr/>
        </p:nvSpPr>
        <p:spPr>
          <a:xfrm>
            <a:off x="4983480" y="3090672"/>
            <a:ext cx="3794760" cy="384048"/>
          </a:xfrm>
          <a:prstGeom prst="rect">
            <a:avLst/>
          </a:prstGeom>
          <a:noFill/>
        </p:spPr>
        <p:txBody>
          <a:bodyPr wrap="square">
            <a:spAutoFit/>
          </a:bodyPr>
          <a:lstStyle/>
          <a:p>
            <a:pPr algn="l"/>
            <a:r>
              <a:rPr sz="850" b="0" i="0">
                <a:solidFill>
                  <a:srgbClr val="BBCCDD"/>
                </a:solidFill>
              </a:rPr>
              <a:t>Da Vinci SP + Da Vinci 5协同控制专利布局，单孔手术机器人适应症持续扩展，直觉外科在这一领域拥有最深厚专利积累</a:t>
            </a:r>
          </a:p>
        </p:txBody>
      </p:sp>
      <p:sp>
        <p:nvSpPr>
          <p:cNvPr id="30" name="Rectangle 29"/>
          <p:cNvSpPr/>
          <p:nvPr/>
        </p:nvSpPr>
        <p:spPr>
          <a:xfrm>
            <a:off x="4846320" y="3529584"/>
            <a:ext cx="54864" cy="640080"/>
          </a:xfrm>
          <a:prstGeom prst="rect">
            <a:avLst/>
          </a:prstGeom>
          <a:solidFill>
            <a:srgbClr val="D0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3480" y="3529584"/>
            <a:ext cx="3794760" cy="256032"/>
          </a:xfrm>
          <a:prstGeom prst="rect">
            <a:avLst/>
          </a:prstGeom>
          <a:noFill/>
        </p:spPr>
        <p:txBody>
          <a:bodyPr wrap="square">
            <a:spAutoFit/>
          </a:bodyPr>
          <a:lstStyle/>
          <a:p>
            <a:pPr algn="l"/>
            <a:r>
              <a:rPr sz="1000" b="1" i="0">
                <a:solidFill>
                  <a:srgbClr val="D03232"/>
                </a:solidFill>
              </a:rPr>
              <a:t>全球化合规</a:t>
            </a:r>
          </a:p>
        </p:txBody>
      </p:sp>
      <p:sp>
        <p:nvSpPr>
          <p:cNvPr id="32" name="TextBox 31"/>
          <p:cNvSpPr txBox="1"/>
          <p:nvPr/>
        </p:nvSpPr>
        <p:spPr>
          <a:xfrm>
            <a:off x="4983480" y="3785616"/>
            <a:ext cx="3794760" cy="384048"/>
          </a:xfrm>
          <a:prstGeom prst="rect">
            <a:avLst/>
          </a:prstGeom>
          <a:noFill/>
        </p:spPr>
        <p:txBody>
          <a:bodyPr wrap="square">
            <a:spAutoFit/>
          </a:bodyPr>
          <a:lstStyle/>
          <a:p>
            <a:pPr algn="l"/>
            <a:r>
              <a:rPr sz="850" b="0" i="0">
                <a:solidFill>
                  <a:srgbClr val="BBCCDD"/>
                </a:solidFill>
              </a:rPr>
              <a:t>FDA 510(k)+CE+NMPA三地审批策略，专利地域布局随适应症扩展同步延伸，中国本土化版本IS4000CN专利布局值得关注</a:t>
            </a:r>
          </a:p>
        </p:txBody>
      </p:sp>
      <p:sp>
        <p:nvSpPr>
          <p:cNvPr id="33" name="Rectangle 32"/>
          <p:cNvSpPr/>
          <p:nvPr/>
        </p:nvSpPr>
        <p:spPr>
          <a:xfrm>
            <a:off x="0" y="4572000"/>
            <a:ext cx="9144000" cy="566928"/>
          </a:xfrm>
          <a:prstGeom prst="rect">
            <a:avLst/>
          </a:prstGeom>
          <a:solidFill>
            <a:srgbClr val="07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4608576"/>
            <a:ext cx="841248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663440"/>
            <a:ext cx="8412480" cy="411480"/>
          </a:xfrm>
          <a:prstGeom prst="rect">
            <a:avLst/>
          </a:prstGeom>
          <a:noFill/>
        </p:spPr>
        <p:txBody>
          <a:bodyPr wrap="square">
            <a:spAutoFit/>
          </a:bodyPr>
          <a:lstStyle/>
          <a:p>
            <a:pPr algn="l"/>
            <a:r>
              <a:rPr sz="750" b="0" i="1">
                <a:solidFill>
                  <a:srgbClr val="8899AA"/>
                </a:solidFill>
              </a:rPr>
              <a:t>数据来源：直觉外科官方公告 (intuitive.com/investor) | FDA 510(k) K243714 | GreyB Insights | Justia Patents | PMC 临床文献 (PMCID:PMC11417192) | Medical Design &amp; Outsourcing | IEEE Xplore  |  分析日期: 2026-04-03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